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BXbAJm5BXLd/LU26TtEP7sbUL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Cybersecurity and Infrastructure Security Agency (CISA), "Risk Management for Electronic Ballot Delivery, Marking, and Return" (public guidance page and PDF reposted in 2024). https://www.cisa.gov/resources-tools/resources/risk-management-electronic-ballot-delivery-marking-and-return</a:t>
            </a:r>
            <a:br>
              <a:rPr lang="en-US"/>
            </a:br>
            <a:r>
              <a:rPr lang="en-US"/>
              <a:t>- National Academies of Sciences, Engineering, and Medicine, "Securing the Vote: Protecting American Democracy" (2018). https://nap.nationalacademies.org/catalog/25120/securing-the-vote-protecting-american-democracy</a:t>
            </a:r>
            <a:br>
              <a:rPr lang="en-US"/>
            </a:br>
            <a:r>
              <a:rPr lang="en-US"/>
              <a:t>- The slide uses these sources to motivate why trust, verification, and clarity matter in voting-related interface design.</a:t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24c4e2c0_2_0:notes"/>
          <p:cNvSpPr/>
          <p:nvPr>
            <p:ph idx="2" type="sldImg"/>
          </p:nvPr>
        </p:nvSpPr>
        <p:spPr>
          <a:xfrm>
            <a:off x="685873" y="1142970"/>
            <a:ext cx="5486254" cy="30860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e24c4e2c0_2_0:notes"/>
          <p:cNvSpPr txBox="1"/>
          <p:nvPr>
            <p:ph idx="1" type="body"/>
          </p:nvPr>
        </p:nvSpPr>
        <p:spPr>
          <a:xfrm>
            <a:off x="685800" y="4400433"/>
            <a:ext cx="5486400" cy="3600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e24c4e2c0_2_0:notes"/>
          <p:cNvSpPr txBox="1"/>
          <p:nvPr>
            <p:ph idx="12" type="sldNum"/>
          </p:nvPr>
        </p:nvSpPr>
        <p:spPr>
          <a:xfrm>
            <a:off x="3884613" y="8684981"/>
            <a:ext cx="2971800" cy="4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e24c4e2c0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de24c4e2c0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de24c4e2c0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43c4293ec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43c4293ec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d43c4293ec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1155680" y="457200"/>
            <a:ext cx="109728" cy="201168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411712" y="548640"/>
            <a:ext cx="109728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594592" y="822960"/>
            <a:ext cx="109728" cy="109728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1411712" y="109728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76656" y="658368"/>
            <a:ext cx="2029968" cy="365760"/>
          </a:xfrm>
          <a:prstGeom prst="roundRect">
            <a:avLst>
              <a:gd fmla="val 20000" name="adj"/>
            </a:avLst>
          </a:prstGeom>
          <a:solidFill>
            <a:srgbClr val="182136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76656" y="758952"/>
            <a:ext cx="202996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PROJECT PROPOSAL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243584"/>
            <a:ext cx="63550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VoteBox </a:t>
            </a:r>
            <a:r>
              <a:rPr b="1" i="0" lang="en-US" sz="2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- EV</a:t>
            </a:r>
            <a:r>
              <a:rPr b="1" lang="en-US" sz="2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 </a:t>
            </a:r>
            <a:r>
              <a:rPr b="1" i="0" lang="en-US" sz="2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Based Blockchain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Voting System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788920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UI/UX proposal for a transparent digital election platform in the System Analysis and Design Lab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1"/>
          <p:cNvGrpSpPr/>
          <p:nvPr/>
        </p:nvGrpSpPr>
        <p:grpSpPr>
          <a:xfrm>
            <a:off x="768096" y="3822192"/>
            <a:ext cx="1828800" cy="530352"/>
            <a:chOff x="768096" y="3822192"/>
            <a:chExt cx="1828800" cy="530352"/>
          </a:xfrm>
        </p:grpSpPr>
        <p:sp>
          <p:nvSpPr>
            <p:cNvPr id="25" name="Google Shape;25;p1"/>
            <p:cNvSpPr/>
            <p:nvPr/>
          </p:nvSpPr>
          <p:spPr>
            <a:xfrm>
              <a:off x="768096" y="3822192"/>
              <a:ext cx="1828800" cy="530352"/>
            </a:xfrm>
            <a:prstGeom prst="roundRect">
              <a:avLst>
                <a:gd fmla="val 17241" name="adj"/>
              </a:avLst>
            </a:prstGeom>
            <a:solidFill>
              <a:srgbClr val="121A2B"/>
            </a:solidFill>
            <a:ln cap="flat" cmpd="sng" w="13950">
              <a:solidFill>
                <a:srgbClr val="7C5CFF">
                  <a:alpha val="8784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68096" y="4005072"/>
              <a:ext cx="182880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40"/>
                <a:buFont typeface="Arial"/>
                <a:buNone/>
              </a:pPr>
              <a:r>
                <a:rPr b="1" i="0" lang="en-US" sz="104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Public Voting Portal</a:t>
              </a:r>
              <a:endParaRPr b="0" i="0" sz="1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7;p1"/>
          <p:cNvGrpSpPr/>
          <p:nvPr/>
        </p:nvGrpSpPr>
        <p:grpSpPr>
          <a:xfrm>
            <a:off x="2752344" y="3822192"/>
            <a:ext cx="1828800" cy="530352"/>
            <a:chOff x="2752344" y="3822192"/>
            <a:chExt cx="1828800" cy="530352"/>
          </a:xfrm>
        </p:grpSpPr>
        <p:sp>
          <p:nvSpPr>
            <p:cNvPr id="28" name="Google Shape;28;p1"/>
            <p:cNvSpPr/>
            <p:nvPr/>
          </p:nvSpPr>
          <p:spPr>
            <a:xfrm>
              <a:off x="2752344" y="3822192"/>
              <a:ext cx="1828800" cy="530352"/>
            </a:xfrm>
            <a:prstGeom prst="roundRect">
              <a:avLst>
                <a:gd fmla="val 17241" name="adj"/>
              </a:avLst>
            </a:prstGeom>
            <a:solidFill>
              <a:srgbClr val="121A2B"/>
            </a:solidFill>
            <a:ln cap="flat" cmpd="sng" w="13950">
              <a:solidFill>
                <a:srgbClr val="33C6FF">
                  <a:alpha val="8784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752344" y="4005072"/>
              <a:ext cx="182880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40"/>
                <a:buFont typeface="Arial"/>
                <a:buNone/>
              </a:pPr>
              <a:r>
                <a:rPr b="1" i="0" lang="en-US" sz="104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Admin Panel</a:t>
              </a:r>
              <a:endParaRPr b="0" i="0" sz="1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1"/>
          <p:cNvGrpSpPr/>
          <p:nvPr/>
        </p:nvGrpSpPr>
        <p:grpSpPr>
          <a:xfrm>
            <a:off x="4736592" y="3822192"/>
            <a:ext cx="1828800" cy="530352"/>
            <a:chOff x="4736592" y="3822192"/>
            <a:chExt cx="1828800" cy="530352"/>
          </a:xfrm>
        </p:grpSpPr>
        <p:sp>
          <p:nvSpPr>
            <p:cNvPr id="31" name="Google Shape;31;p1"/>
            <p:cNvSpPr/>
            <p:nvPr/>
          </p:nvSpPr>
          <p:spPr>
            <a:xfrm>
              <a:off x="4736592" y="3822192"/>
              <a:ext cx="1828800" cy="530352"/>
            </a:xfrm>
            <a:prstGeom prst="roundRect">
              <a:avLst>
                <a:gd fmla="val 17241" name="adj"/>
              </a:avLst>
            </a:prstGeom>
            <a:solidFill>
              <a:srgbClr val="121A2B"/>
            </a:solidFill>
            <a:ln cap="flat" cmpd="sng" w="13950">
              <a:solidFill>
                <a:srgbClr val="F15BB5">
                  <a:alpha val="8784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4736592" y="4005072"/>
              <a:ext cx="182880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40"/>
                <a:buFont typeface="Arial"/>
                <a:buNone/>
              </a:pPr>
              <a:r>
                <a:rPr b="1" i="0" lang="en-US" sz="104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Live Results Portal</a:t>
              </a:r>
              <a:endParaRPr b="0" i="0" sz="1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1"/>
          <p:cNvSpPr/>
          <p:nvPr/>
        </p:nvSpPr>
        <p:spPr>
          <a:xfrm>
            <a:off x="7370064" y="1005840"/>
            <a:ext cx="3767328" cy="4919472"/>
          </a:xfrm>
          <a:prstGeom prst="roundRect">
            <a:avLst>
              <a:gd fmla="val 2913" name="adj"/>
            </a:avLst>
          </a:prstGeom>
          <a:solidFill>
            <a:srgbClr val="121A2B">
              <a:alpha val="98039"/>
            </a:srgbClr>
          </a:solidFill>
          <a:ln cap="flat" cmpd="sng" w="152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2032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699248" y="1353312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699248" y="164592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Design a trusted voting experience where voters can cast a ballot, administrators can manage elections, and the public can observe verified results through clear, easy-to-understand interfaces.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662672" y="2852928"/>
            <a:ext cx="3163824" cy="713232"/>
          </a:xfrm>
          <a:prstGeom prst="roundRect">
            <a:avLst>
              <a:gd fmla="val 8974" name="adj"/>
            </a:avLst>
          </a:prstGeom>
          <a:solidFill>
            <a:srgbClr val="182136"/>
          </a:solidFill>
          <a:ln cap="flat" cmpd="sng" w="114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0" y="29626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/>
          <p:nvPr/>
        </p:nvSpPr>
        <p:spPr>
          <a:xfrm>
            <a:off x="8302752" y="2971800"/>
            <a:ext cx="9144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Play"/>
              <a:buNone/>
            </a:pPr>
            <a:r>
              <a:rPr b="1" i="0" lang="en-US" sz="118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Voter UI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8302752" y="3182112"/>
            <a:ext cx="22311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Login, select candidate, confirm vote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662672" y="3767328"/>
            <a:ext cx="3163824" cy="713232"/>
          </a:xfrm>
          <a:prstGeom prst="roundRect">
            <a:avLst>
              <a:gd fmla="val 8974" name="adj"/>
            </a:avLst>
          </a:prstGeom>
          <a:solidFill>
            <a:srgbClr val="182136"/>
          </a:solidFill>
          <a:ln cap="flat" cmpd="sng" w="114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8120" y="38770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"/>
          <p:cNvSpPr/>
          <p:nvPr/>
        </p:nvSpPr>
        <p:spPr>
          <a:xfrm>
            <a:off x="8302752" y="3886200"/>
            <a:ext cx="9144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Play"/>
              <a:buNone/>
            </a:pPr>
            <a:r>
              <a:rPr b="1" i="0" lang="en-US" sz="118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Admin UI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302752" y="4096512"/>
            <a:ext cx="22311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Create election, monitor turnout, audit logs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7662672" y="4681728"/>
            <a:ext cx="3163824" cy="713232"/>
          </a:xfrm>
          <a:prstGeom prst="roundRect">
            <a:avLst>
              <a:gd fmla="val 8974" name="adj"/>
            </a:avLst>
          </a:prstGeom>
          <a:solidFill>
            <a:srgbClr val="182136"/>
          </a:solidFill>
          <a:ln cap="flat" cmpd="sng" w="114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8120" y="47914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"/>
          <p:cNvSpPr/>
          <p:nvPr/>
        </p:nvSpPr>
        <p:spPr>
          <a:xfrm>
            <a:off x="8302752" y="4800600"/>
            <a:ext cx="9144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Play"/>
              <a:buNone/>
            </a:pPr>
            <a:r>
              <a:rPr b="1" i="0" lang="en-US" sz="118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Results UI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8302752" y="5010912"/>
            <a:ext cx="22311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Live charts, region filters, public status view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768096" y="5852160"/>
            <a:ext cx="3840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ED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5CEDA"/>
                </a:solidFill>
                <a:latin typeface="Arial"/>
                <a:ea typeface="Arial"/>
                <a:cs typeface="Arial"/>
                <a:sym typeface="Arial"/>
              </a:rPr>
              <a:t>Prepared by: Team </a:t>
            </a:r>
            <a:r>
              <a:rPr lang="en-US" sz="1100">
                <a:solidFill>
                  <a:srgbClr val="C5CEDA"/>
                </a:solidFill>
              </a:rPr>
              <a:t>ByteBots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768096" y="6099048"/>
            <a:ext cx="34747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3B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95A3B8"/>
                </a:solidFill>
                <a:latin typeface="Arial"/>
                <a:ea typeface="Arial"/>
                <a:cs typeface="Arial"/>
                <a:sym typeface="Arial"/>
              </a:rPr>
              <a:t>Course: System Analysis and Design Lab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11265380" y="429775"/>
            <a:ext cx="109800" cy="20118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1411712" y="548640"/>
            <a:ext cx="109728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1594592" y="822960"/>
            <a:ext cx="109800" cy="109800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1411712" y="109728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66928" y="475488"/>
            <a:ext cx="73152" cy="384048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68096" y="42976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0104120" y="347472"/>
            <a:ext cx="941832" cy="384048"/>
          </a:xfrm>
          <a:prstGeom prst="roundRect">
            <a:avLst>
              <a:gd fmla="val 14286" name="adj"/>
            </a:avLst>
          </a:prstGeom>
          <a:solidFill>
            <a:srgbClr val="182136">
              <a:alpha val="94117"/>
            </a:srgbClr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104120" y="429768"/>
            <a:ext cx="9418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68096" y="804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50"/>
              <a:buFont typeface="Play"/>
              <a:buNone/>
            </a:pPr>
            <a:r>
              <a:rPr b="1" i="0" lang="en-US" sz="235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1. Short Description of the Project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14396" y="1115649"/>
            <a:ext cx="9875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A UI/UX concept that combines an Electronic Voting Machine (EVM)-style voting flow with a blockchain-backed transparency layer.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1631168" y="64190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0A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090A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2525" y="1468000"/>
            <a:ext cx="4596300" cy="4818000"/>
          </a:xfrm>
          <a:prstGeom prst="roundRect">
            <a:avLst>
              <a:gd fmla="val 1709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 flipH="1">
            <a:off x="640075" y="1901950"/>
            <a:ext cx="91500" cy="39501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152401" y="1664025"/>
            <a:ext cx="3684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Project summar</a:t>
            </a: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y</a:t>
            </a:r>
            <a:endParaRPr b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271025" y="2377200"/>
            <a:ext cx="37125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90"/>
              <a:buFont typeface="Arial"/>
              <a:buNone/>
            </a:pPr>
            <a:r>
              <a:rPr b="0" i="0" lang="en-US" sz="139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proposed system is a conceptual digital voting platform designed for transparency</a:t>
            </a:r>
            <a:r>
              <a:rPr lang="en-US" sz="1390">
                <a:solidFill>
                  <a:srgbClr val="F8FAFC"/>
                </a:solidFill>
              </a:rPr>
              <a:t>.</a:t>
            </a:r>
            <a:endParaRPr b="0" i="0" sz="13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271025" y="2944300"/>
            <a:ext cx="36849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Public Voting Portal for voter login, ballot selection, and vote confirmation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271025" y="3641200"/>
            <a:ext cx="36849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Admin Panel for election setup, candidate management, voter oversight, and audit control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1271025" y="4330300"/>
            <a:ext cx="36849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Live Results Portal for turnout updates, verified counts, and public transparency views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271025" y="4912000"/>
            <a:ext cx="36849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UI flow includes authentication, confirmation, receipt or reference ID, and status tracking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271025" y="5597300"/>
            <a:ext cx="37398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Scope is limited to wireframes, high-fidelity screens, and interaction design for the lab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334300" y="1394850"/>
            <a:ext cx="5931000" cy="4818000"/>
          </a:xfrm>
          <a:prstGeom prst="roundRect">
            <a:avLst>
              <a:gd fmla="val 1709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5395683" y="1828802"/>
            <a:ext cx="91500" cy="3950100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5998475" y="1632250"/>
            <a:ext cx="45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System concept in one view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998475" y="2066400"/>
            <a:ext cx="1389900" cy="310800"/>
          </a:xfrm>
          <a:prstGeom prst="roundRect">
            <a:avLst>
              <a:gd fmla="val 23529" name="adj"/>
            </a:avLst>
          </a:prstGeom>
          <a:solidFill>
            <a:srgbClr val="7C5CFF">
              <a:alpha val="92156"/>
            </a:srgbClr>
          </a:solidFill>
          <a:ln cap="flat" cmpd="sng" w="12700">
            <a:solidFill>
              <a:srgbClr val="7C5CFF">
                <a:alpha val="5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5998475" y="2013972"/>
            <a:ext cx="138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VOTERS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552944" y="2066544"/>
            <a:ext cx="1389888" cy="310896"/>
          </a:xfrm>
          <a:prstGeom prst="roundRect">
            <a:avLst>
              <a:gd fmla="val 23529" name="adj"/>
            </a:avLst>
          </a:prstGeom>
          <a:solidFill>
            <a:srgbClr val="33C6FF">
              <a:alpha val="92156"/>
            </a:srgbClr>
          </a:solidFill>
          <a:ln cap="flat" cmpd="sng" w="12700">
            <a:solidFill>
              <a:srgbClr val="33C6FF">
                <a:alpha val="5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7552944" y="2139696"/>
            <a:ext cx="13898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ELECTION OFFICERS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9107424" y="2066544"/>
            <a:ext cx="1389888" cy="310896"/>
          </a:xfrm>
          <a:prstGeom prst="roundRect">
            <a:avLst>
              <a:gd fmla="val 23529" name="adj"/>
            </a:avLst>
          </a:prstGeom>
          <a:solidFill>
            <a:srgbClr val="F15BB5">
              <a:alpha val="92156"/>
            </a:srgbClr>
          </a:solidFill>
          <a:ln cap="flat" cmpd="sng" w="12700">
            <a:solidFill>
              <a:srgbClr val="F15BB5">
                <a:alpha val="5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9107424" y="2139696"/>
            <a:ext cx="13898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PUBLIC OBSERVERS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2"/>
          <p:cNvGrpSpPr/>
          <p:nvPr/>
        </p:nvGrpSpPr>
        <p:grpSpPr>
          <a:xfrm>
            <a:off x="5616100" y="2596800"/>
            <a:ext cx="2001896" cy="1115700"/>
            <a:chOff x="5616100" y="2596800"/>
            <a:chExt cx="2001896" cy="1115700"/>
          </a:xfrm>
        </p:grpSpPr>
        <p:grpSp>
          <p:nvGrpSpPr>
            <p:cNvPr id="85" name="Google Shape;85;p2"/>
            <p:cNvGrpSpPr/>
            <p:nvPr/>
          </p:nvGrpSpPr>
          <p:grpSpPr>
            <a:xfrm>
              <a:off x="5616100" y="2596800"/>
              <a:ext cx="1685400" cy="1115700"/>
              <a:chOff x="5616100" y="2596800"/>
              <a:chExt cx="1685400" cy="1115700"/>
            </a:xfrm>
          </p:grpSpPr>
          <p:sp>
            <p:nvSpPr>
              <p:cNvPr id="86" name="Google Shape;86;p2"/>
              <p:cNvSpPr/>
              <p:nvPr/>
            </p:nvSpPr>
            <p:spPr>
              <a:xfrm>
                <a:off x="5616100" y="2596800"/>
                <a:ext cx="1685400" cy="1115700"/>
              </a:xfrm>
              <a:prstGeom prst="roundRect">
                <a:avLst>
                  <a:gd fmla="val 6557" name="adj"/>
                </a:avLst>
              </a:prstGeom>
              <a:solidFill>
                <a:srgbClr val="182136"/>
              </a:solidFill>
              <a:ln cap="flat" cmpd="sng" w="13950">
                <a:solidFill>
                  <a:srgbClr val="7C5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724375" y="2934350"/>
                <a:ext cx="1554600" cy="44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420"/>
                  <a:buFont typeface="Play"/>
                  <a:buNone/>
                </a:pPr>
                <a:r>
                  <a:rPr b="1" i="0" lang="en-US" sz="1420" u="none" cap="none" strike="noStrike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Voting</a:t>
                </a:r>
                <a:endParaRPr b="0" i="0" sz="142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420"/>
                  <a:buFont typeface="Play"/>
                  <a:buNone/>
                </a:pPr>
                <a:r>
                  <a:rPr b="1" i="0" lang="en-US" sz="1420" u="none" cap="none" strike="noStrike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Portal</a:t>
                </a:r>
                <a:endParaRPr b="0" i="0" sz="142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" name="Google Shape;88;p2"/>
            <p:cNvSpPr/>
            <p:nvPr/>
          </p:nvSpPr>
          <p:spPr>
            <a:xfrm flipH="1" rot="10522757">
              <a:off x="7388289" y="3109082"/>
              <a:ext cx="219714" cy="256138"/>
            </a:xfrm>
            <a:prstGeom prst="chevron">
              <a:avLst>
                <a:gd fmla="val 50000" name="adj"/>
              </a:avLst>
            </a:prstGeom>
            <a:solidFill>
              <a:srgbClr val="6B7A90"/>
            </a:solidFill>
            <a:ln cap="flat" cmpd="sng" w="12700">
              <a:solidFill>
                <a:srgbClr val="6B7A9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7667725" y="2580800"/>
            <a:ext cx="1823904" cy="1115700"/>
            <a:chOff x="7667725" y="2580800"/>
            <a:chExt cx="1823904" cy="1115700"/>
          </a:xfrm>
        </p:grpSpPr>
        <p:sp>
          <p:nvSpPr>
            <p:cNvPr id="90" name="Google Shape;90;p2"/>
            <p:cNvSpPr/>
            <p:nvPr/>
          </p:nvSpPr>
          <p:spPr>
            <a:xfrm>
              <a:off x="7667725" y="2580800"/>
              <a:ext cx="1554600" cy="1115700"/>
            </a:xfrm>
            <a:prstGeom prst="roundRect">
              <a:avLst>
                <a:gd fmla="val 6557" name="adj"/>
              </a:avLst>
            </a:prstGeom>
            <a:solidFill>
              <a:srgbClr val="182136"/>
            </a:solidFill>
            <a:ln cap="flat" cmpd="sng" w="13950">
              <a:solidFill>
                <a:srgbClr val="33C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808976" y="3054096"/>
              <a:ext cx="1261872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420"/>
                <a:buFont typeface="Play"/>
                <a:buNone/>
              </a:pPr>
              <a:r>
                <a:rPr b="1" i="0" lang="en-US" sz="142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Admin</a:t>
              </a:r>
              <a:endParaRPr b="0" i="0" sz="14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420"/>
                <a:buFont typeface="Play"/>
                <a:buNone/>
              </a:pPr>
              <a:r>
                <a:rPr b="1" i="0" lang="en-US" sz="142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Panel</a:t>
              </a:r>
              <a:endParaRPr b="0" i="0" sz="14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9272029" y="3108950"/>
              <a:ext cx="219600" cy="256200"/>
            </a:xfrm>
            <a:prstGeom prst="chevron">
              <a:avLst>
                <a:gd fmla="val 50000" name="adj"/>
              </a:avLst>
            </a:prstGeom>
            <a:solidFill>
              <a:srgbClr val="6B7A90"/>
            </a:solidFill>
            <a:ln cap="flat" cmpd="sng" w="12700">
              <a:solidFill>
                <a:srgbClr val="6B7A9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9601205" y="2580800"/>
            <a:ext cx="1554600" cy="1115700"/>
            <a:chOff x="9601205" y="2580800"/>
            <a:chExt cx="1554600" cy="1115700"/>
          </a:xfrm>
        </p:grpSpPr>
        <p:sp>
          <p:nvSpPr>
            <p:cNvPr id="94" name="Google Shape;94;p2"/>
            <p:cNvSpPr/>
            <p:nvPr/>
          </p:nvSpPr>
          <p:spPr>
            <a:xfrm>
              <a:off x="9601205" y="2580800"/>
              <a:ext cx="1554600" cy="1115700"/>
            </a:xfrm>
            <a:prstGeom prst="roundRect">
              <a:avLst>
                <a:gd fmla="val 6557" name="adj"/>
              </a:avLst>
            </a:prstGeom>
            <a:solidFill>
              <a:srgbClr val="182136"/>
            </a:solidFill>
            <a:ln cap="flat" cmpd="sng" w="13950">
              <a:solidFill>
                <a:srgbClr val="F15B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794125" y="2726775"/>
              <a:ext cx="1087200" cy="8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420"/>
                <a:buFont typeface="Play"/>
                <a:buNone/>
              </a:pPr>
              <a:r>
                <a:rPr b="1" i="0" lang="en-US" sz="142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Live Results</a:t>
              </a:r>
              <a:endParaRPr b="0" i="0" sz="14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420"/>
                <a:buFont typeface="Play"/>
                <a:buNone/>
              </a:pPr>
              <a:r>
                <a:rPr b="1" i="0" lang="en-US" sz="142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Portal</a:t>
              </a:r>
              <a:endParaRPr b="0" i="0" sz="14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479792" y="4352544"/>
            <a:ext cx="2139696" cy="969264"/>
            <a:chOff x="7479792" y="4352544"/>
            <a:chExt cx="2139696" cy="969264"/>
          </a:xfrm>
        </p:grpSpPr>
        <p:sp>
          <p:nvSpPr>
            <p:cNvPr id="97" name="Google Shape;97;p2"/>
            <p:cNvSpPr/>
            <p:nvPr/>
          </p:nvSpPr>
          <p:spPr>
            <a:xfrm>
              <a:off x="7479792" y="4352544"/>
              <a:ext cx="2139696" cy="969264"/>
            </a:xfrm>
            <a:prstGeom prst="roundRect">
              <a:avLst>
                <a:gd fmla="val 7547" name="adj"/>
              </a:avLst>
            </a:prstGeom>
            <a:solidFill>
              <a:srgbClr val="1B2440"/>
            </a:solidFill>
            <a:ln cap="flat" cmpd="sng" w="139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479792" y="4626864"/>
              <a:ext cx="2139696" cy="128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420"/>
                <a:buFont typeface="Play"/>
                <a:buNone/>
              </a:pPr>
              <a:r>
                <a:rPr b="1" i="0" lang="en-US" sz="142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Blockchain audit layer</a:t>
              </a:r>
              <a:endParaRPr b="0" i="0" sz="14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644384" y="4882896"/>
              <a:ext cx="1810512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Immutable record + verification status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11155680" y="457200"/>
            <a:ext cx="109728" cy="201168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1411712" y="548640"/>
            <a:ext cx="109728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1594592" y="822960"/>
            <a:ext cx="109728" cy="109728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11411712" y="109728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566928" y="475488"/>
            <a:ext cx="73152" cy="384048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68096" y="42976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0104120" y="347472"/>
            <a:ext cx="941832" cy="384048"/>
          </a:xfrm>
          <a:prstGeom prst="roundRect">
            <a:avLst>
              <a:gd fmla="val 14286" name="adj"/>
            </a:avLst>
          </a:prstGeom>
          <a:solidFill>
            <a:srgbClr val="182136">
              <a:alpha val="94117"/>
            </a:srgbClr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0104120" y="429768"/>
            <a:ext cx="9418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68096" y="804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50"/>
              <a:buFont typeface="Play"/>
              <a:buNone/>
            </a:pPr>
            <a:r>
              <a:rPr b="1" i="0" lang="en-US" sz="235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2. Motivation: Why do we want to build this project?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68096" y="1316736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The proposal focuses on how interface design can improve trust, clarity, and transparency in a sensitive voting workflow.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1631168" y="64190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0A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090A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559552" y="1755648"/>
            <a:ext cx="5522976" cy="4315968"/>
          </a:xfrm>
          <a:prstGeom prst="roundRect">
            <a:avLst>
              <a:gd fmla="val 1695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724144" y="1920240"/>
            <a:ext cx="91440" cy="3986784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5943600" y="1920240"/>
            <a:ext cx="4974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Motivation in four design goals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5925349" y="2194559"/>
            <a:ext cx="4681656" cy="1298448"/>
            <a:chOff x="5925312" y="2157984"/>
            <a:chExt cx="4681656" cy="1298448"/>
          </a:xfrm>
        </p:grpSpPr>
        <p:sp>
          <p:nvSpPr>
            <p:cNvPr id="120" name="Google Shape;120;p3"/>
            <p:cNvSpPr/>
            <p:nvPr/>
          </p:nvSpPr>
          <p:spPr>
            <a:xfrm>
              <a:off x="5925312" y="2157984"/>
              <a:ext cx="2176272" cy="1298448"/>
            </a:xfrm>
            <a:prstGeom prst="roundRect">
              <a:avLst>
                <a:gd fmla="val 5634" name="adj"/>
              </a:avLst>
            </a:prstGeom>
            <a:solidFill>
              <a:srgbClr val="182136"/>
            </a:solidFill>
            <a:ln cap="flat" cmpd="sng" w="12700">
              <a:solidFill>
                <a:srgbClr val="7C5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6089904" y="2322576"/>
              <a:ext cx="1847088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350"/>
                <a:buFont typeface="Play"/>
                <a:buNone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Transparency</a:t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6089904" y="2578608"/>
              <a:ext cx="1810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Show vote status, timestamps, and public result updates clearly.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430768" y="2157984"/>
              <a:ext cx="2176200" cy="1298400"/>
            </a:xfrm>
            <a:prstGeom prst="roundRect">
              <a:avLst>
                <a:gd fmla="val 5634" name="adj"/>
              </a:avLst>
            </a:prstGeom>
            <a:solidFill>
              <a:srgbClr val="182136"/>
            </a:solidFill>
            <a:ln cap="flat" cmpd="sng" w="12700">
              <a:solidFill>
                <a:srgbClr val="33C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595360" y="2322576"/>
              <a:ext cx="1847088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350"/>
                <a:buFont typeface="Play"/>
                <a:buNone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Usability</a:t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8595360" y="2578608"/>
              <a:ext cx="1810512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Keep the voting journey short, simple, and easy for first-time users.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5925312" y="3803904"/>
            <a:ext cx="4681728" cy="1298448"/>
            <a:chOff x="5925312" y="3803904"/>
            <a:chExt cx="4681728" cy="1298448"/>
          </a:xfrm>
        </p:grpSpPr>
        <p:sp>
          <p:nvSpPr>
            <p:cNvPr id="127" name="Google Shape;127;p3"/>
            <p:cNvSpPr/>
            <p:nvPr/>
          </p:nvSpPr>
          <p:spPr>
            <a:xfrm>
              <a:off x="8430768" y="3803904"/>
              <a:ext cx="2176272" cy="1298448"/>
            </a:xfrm>
            <a:prstGeom prst="roundRect">
              <a:avLst>
                <a:gd fmla="val 5634" name="adj"/>
              </a:avLst>
            </a:prstGeom>
            <a:solidFill>
              <a:srgbClr val="182136"/>
            </a:solidFill>
            <a:ln cap="flat" cmpd="sng" w="12700">
              <a:solidFill>
                <a:srgbClr val="F15B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5925312" y="3803904"/>
              <a:ext cx="2176272" cy="1298448"/>
            </a:xfrm>
            <a:prstGeom prst="roundRect">
              <a:avLst>
                <a:gd fmla="val 5634" name="adj"/>
              </a:avLst>
            </a:prstGeom>
            <a:solidFill>
              <a:srgbClr val="182136"/>
            </a:solidFill>
            <a:ln cap="flat" cmpd="sng" w="127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089904" y="3968496"/>
              <a:ext cx="1847088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350"/>
                <a:buFont typeface="Play"/>
                <a:buNone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Trust Signals</a:t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089904" y="4224528"/>
              <a:ext cx="1810512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Use confirmations, receipts, and audit cues to increase confidence.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8595360" y="3968496"/>
              <a:ext cx="1847088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350"/>
                <a:buFont typeface="Play"/>
                <a:buNone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Monitoring</a:t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8595360" y="4224528"/>
              <a:ext cx="1810512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Help admins and the public observe turnout and verified counts live.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3"/>
          <p:cNvSpPr/>
          <p:nvPr/>
        </p:nvSpPr>
        <p:spPr>
          <a:xfrm>
            <a:off x="5925312" y="5413248"/>
            <a:ext cx="4681728" cy="438912"/>
          </a:xfrm>
          <a:prstGeom prst="roundRect">
            <a:avLst>
              <a:gd fmla="val 16667" name="adj"/>
            </a:avLst>
          </a:prstGeom>
          <a:solidFill>
            <a:srgbClr val="12203A"/>
          </a:solidFill>
          <a:ln cap="flat" cmpd="sng" w="114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144768" y="5559552"/>
            <a:ext cx="42428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D7DEE8"/>
                </a:solidFill>
                <a:latin typeface="Arial"/>
                <a:ea typeface="Arial"/>
                <a:cs typeface="Arial"/>
                <a:sym typeface="Arial"/>
              </a:rPr>
              <a:t>Design principle: a transparent system should explain what is verified, what remains private, and what the user should do next.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3"/>
          <p:cNvGrpSpPr/>
          <p:nvPr/>
        </p:nvGrpSpPr>
        <p:grpSpPr>
          <a:xfrm>
            <a:off x="659183" y="1755648"/>
            <a:ext cx="4572000" cy="4315968"/>
            <a:chOff x="659184" y="1755648"/>
            <a:chExt cx="4572000" cy="4315968"/>
          </a:xfrm>
        </p:grpSpPr>
        <p:grpSp>
          <p:nvGrpSpPr>
            <p:cNvPr id="136" name="Google Shape;136;p3"/>
            <p:cNvGrpSpPr/>
            <p:nvPr/>
          </p:nvGrpSpPr>
          <p:grpSpPr>
            <a:xfrm>
              <a:off x="659183" y="1755648"/>
              <a:ext cx="4572000" cy="4315968"/>
              <a:chOff x="768096" y="1755648"/>
              <a:chExt cx="4572000" cy="4315968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768096" y="1755648"/>
                <a:ext cx="4572000" cy="4315968"/>
              </a:xfrm>
              <a:prstGeom prst="roundRect">
                <a:avLst>
                  <a:gd fmla="val 1695" name="adj"/>
                </a:avLst>
              </a:prstGeom>
              <a:solidFill>
                <a:srgbClr val="121A2B"/>
              </a:solidFill>
              <a:ln cap="flat" cmpd="sng" w="1395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9050" rotWithShape="0" algn="bl" dir="2700000" dist="15240">
                  <a:srgbClr val="000000">
                    <a:alpha val="18039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1152144" y="1920240"/>
                <a:ext cx="4023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600"/>
                  <a:buFont typeface="Play"/>
                  <a:buNone/>
                </a:pPr>
                <a:r>
                  <a:rPr b="1" i="0" lang="en-US" sz="1600" u="none" cap="none" strike="noStrike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Why this topic is important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1271025" y="2275575"/>
                <a:ext cx="36393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230"/>
                  <a:buFont typeface="Arial"/>
                  <a:buNone/>
                </a:pPr>
                <a:r>
                  <a:rPr b="0" i="0" lang="en-US" sz="1230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Voting systems succeed only when people trust that the process is fair, private, and correctly recorded.</a:t>
                </a:r>
                <a:endParaRPr b="0" i="0" sz="123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1271025" y="2615167"/>
                <a:ext cx="3639300" cy="92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230"/>
                  <a:buFont typeface="Arial"/>
                  <a:buNone/>
                </a:pPr>
                <a:r>
                  <a:rPr b="0" i="0" lang="en-US" sz="1230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Digital election ideas often discuss security and transparency, but ordinary users still need clear screens and understandable feedback.</a:t>
                </a:r>
                <a:endParaRPr b="0" i="0" sz="123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1271025" y="3080350"/>
                <a:ext cx="3712500" cy="143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230"/>
                  <a:buFont typeface="Arial"/>
                  <a:buNone/>
                </a:pPr>
                <a:r>
                  <a:rPr b="0" i="0" lang="en-US" sz="1230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A strong UI can reduce confusion by showing confirmation steps, verification cues, and simple result dashboards.</a:t>
                </a:r>
                <a:endParaRPr b="0" i="0" sz="123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1271025" y="4192203"/>
                <a:ext cx="3639300" cy="7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230"/>
                  <a:buFont typeface="Arial"/>
                  <a:buNone/>
                </a:pPr>
                <a:r>
                  <a:rPr b="0" i="0" lang="en-US" sz="1230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This project also fits SAD well because it involves stakeholders, workflows, access roles, risk thinking, and interface requirements.</a:t>
                </a:r>
                <a:endParaRPr b="0" i="0" sz="123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1271025" y="4960499"/>
                <a:ext cx="3639300" cy="7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230"/>
                  <a:buFont typeface="Arial"/>
                  <a:buNone/>
                </a:pPr>
                <a:r>
                  <a:rPr b="0" i="0" lang="en-US" sz="1230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The lab goal is to design a transparent user experience, not to claim immediate deployment for a real national election.</a:t>
                </a:r>
                <a:endParaRPr b="0" i="0" sz="123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" name="Google Shape;144;p3"/>
            <p:cNvSpPr/>
            <p:nvPr/>
          </p:nvSpPr>
          <p:spPr>
            <a:xfrm>
              <a:off x="768088" y="1920278"/>
              <a:ext cx="91500" cy="3986700"/>
            </a:xfrm>
            <a:prstGeom prst="rect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e24c4e2c0_2_0"/>
          <p:cNvSpPr/>
          <p:nvPr/>
        </p:nvSpPr>
        <p:spPr>
          <a:xfrm>
            <a:off x="11411408" y="548640"/>
            <a:ext cx="109725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e24c4e2c0_2_0"/>
          <p:cNvSpPr/>
          <p:nvPr/>
        </p:nvSpPr>
        <p:spPr>
          <a:xfrm>
            <a:off x="11594283" y="822960"/>
            <a:ext cx="109725" cy="109728"/>
          </a:xfrm>
          <a:prstGeom prst="ellipse">
            <a:avLst/>
          </a:prstGeom>
          <a:solidFill>
            <a:srgbClr val="FF5BB8"/>
          </a:solidFill>
          <a:ln cap="flat" cmpd="sng" w="12700">
            <a:solidFill>
              <a:srgbClr val="FF5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e24c4e2c0_2_0"/>
          <p:cNvSpPr/>
          <p:nvPr/>
        </p:nvSpPr>
        <p:spPr>
          <a:xfrm>
            <a:off x="11411408" y="1097280"/>
            <a:ext cx="109725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e24c4e2c0_2_0"/>
          <p:cNvSpPr/>
          <p:nvPr/>
        </p:nvSpPr>
        <p:spPr>
          <a:xfrm>
            <a:off x="566913" y="475488"/>
            <a:ext cx="73150" cy="384048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e24c4e2c0_2_0"/>
          <p:cNvSpPr/>
          <p:nvPr/>
        </p:nvSpPr>
        <p:spPr>
          <a:xfrm>
            <a:off x="768076" y="429768"/>
            <a:ext cx="301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BENCHMARK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e24c4e2c0_2_0"/>
          <p:cNvSpPr/>
          <p:nvPr/>
        </p:nvSpPr>
        <p:spPr>
          <a:xfrm>
            <a:off x="10103851" y="347472"/>
            <a:ext cx="941807" cy="384048"/>
          </a:xfrm>
          <a:prstGeom prst="roundRect">
            <a:avLst>
              <a:gd fmla="val 19048" name="adj"/>
            </a:avLst>
          </a:prstGeom>
          <a:solidFill>
            <a:srgbClr val="182136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e24c4e2c0_2_0"/>
          <p:cNvSpPr/>
          <p:nvPr/>
        </p:nvSpPr>
        <p:spPr>
          <a:xfrm>
            <a:off x="10103851" y="429768"/>
            <a:ext cx="94180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e24c4e2c0_2_0"/>
          <p:cNvSpPr/>
          <p:nvPr/>
        </p:nvSpPr>
        <p:spPr>
          <a:xfrm>
            <a:off x="768076" y="786384"/>
            <a:ext cx="969238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3.</a:t>
            </a:r>
            <a:r>
              <a:rPr b="1" i="0" lang="en-US" sz="2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Benchmark Analysis — Feature Matrix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e24c4e2c0_2_0"/>
          <p:cNvSpPr/>
          <p:nvPr/>
        </p:nvSpPr>
        <p:spPr>
          <a:xfrm>
            <a:off x="768076" y="1225296"/>
            <a:ext cx="64006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Comparison of voting approaches across transparency, security, administration, and user experience features.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e24c4e2c0_2_0"/>
          <p:cNvSpPr/>
          <p:nvPr/>
        </p:nvSpPr>
        <p:spPr>
          <a:xfrm>
            <a:off x="7360724" y="1225296"/>
            <a:ext cx="356606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US" sz="95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 Supported   </a:t>
            </a:r>
            <a:r>
              <a:rPr b="1" i="0" lang="en-US" sz="9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◐</a:t>
            </a:r>
            <a:r>
              <a:rPr b="0" i="0" lang="en-US" sz="95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 Partial   </a:t>
            </a:r>
            <a:r>
              <a:rPr b="1" i="0" lang="en-US" sz="95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r>
              <a:rPr b="0" i="0" lang="en-US" sz="95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 Not supported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e24c4e2c0_2_0"/>
          <p:cNvSpPr/>
          <p:nvPr/>
        </p:nvSpPr>
        <p:spPr>
          <a:xfrm>
            <a:off x="786363" y="1792224"/>
            <a:ext cx="2788846" cy="4572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e24c4e2c0_2_0"/>
          <p:cNvSpPr/>
          <p:nvPr/>
        </p:nvSpPr>
        <p:spPr>
          <a:xfrm>
            <a:off x="841226" y="1819656"/>
            <a:ext cx="2679121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e24c4e2c0_2_0"/>
          <p:cNvSpPr/>
          <p:nvPr/>
        </p:nvSpPr>
        <p:spPr>
          <a:xfrm>
            <a:off x="3575209" y="1792224"/>
            <a:ext cx="1472145" cy="457200"/>
          </a:xfrm>
          <a:prstGeom prst="rect">
            <a:avLst/>
          </a:prstGeom>
          <a:solidFill>
            <a:srgbClr val="14213A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e24c4e2c0_2_0"/>
          <p:cNvSpPr/>
          <p:nvPr/>
        </p:nvSpPr>
        <p:spPr>
          <a:xfrm>
            <a:off x="3630071" y="1819656"/>
            <a:ext cx="13624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Ballot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e24c4e2c0_2_0"/>
          <p:cNvSpPr/>
          <p:nvPr/>
        </p:nvSpPr>
        <p:spPr>
          <a:xfrm>
            <a:off x="5047353" y="1792224"/>
            <a:ext cx="1472145" cy="457200"/>
          </a:xfrm>
          <a:prstGeom prst="rect">
            <a:avLst/>
          </a:prstGeom>
          <a:solidFill>
            <a:srgbClr val="14213A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e24c4e2c0_2_0"/>
          <p:cNvSpPr/>
          <p:nvPr/>
        </p:nvSpPr>
        <p:spPr>
          <a:xfrm>
            <a:off x="5102216" y="1819656"/>
            <a:ext cx="13624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Conventional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EVM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e24c4e2c0_2_0"/>
          <p:cNvSpPr/>
          <p:nvPr/>
        </p:nvSpPr>
        <p:spPr>
          <a:xfrm>
            <a:off x="6519498" y="1792224"/>
            <a:ext cx="1472145" cy="457200"/>
          </a:xfrm>
          <a:prstGeom prst="rect">
            <a:avLst/>
          </a:prstGeom>
          <a:solidFill>
            <a:srgbClr val="14213A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e24c4e2c0_2_0"/>
          <p:cNvSpPr/>
          <p:nvPr/>
        </p:nvSpPr>
        <p:spPr>
          <a:xfrm>
            <a:off x="6574361" y="1819656"/>
            <a:ext cx="13624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Centralized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e24c4e2c0_2_0"/>
          <p:cNvSpPr/>
          <p:nvPr/>
        </p:nvSpPr>
        <p:spPr>
          <a:xfrm>
            <a:off x="7991643" y="1792224"/>
            <a:ext cx="1472145" cy="457200"/>
          </a:xfrm>
          <a:prstGeom prst="rect">
            <a:avLst/>
          </a:prstGeom>
          <a:solidFill>
            <a:srgbClr val="14213A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e24c4e2c0_2_0"/>
          <p:cNvSpPr/>
          <p:nvPr/>
        </p:nvSpPr>
        <p:spPr>
          <a:xfrm>
            <a:off x="8046506" y="1819656"/>
            <a:ext cx="13624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Blockchain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e24c4e2c0_2_0"/>
          <p:cNvSpPr/>
          <p:nvPr/>
        </p:nvSpPr>
        <p:spPr>
          <a:xfrm>
            <a:off x="9463788" y="1792224"/>
            <a:ext cx="1472145" cy="457200"/>
          </a:xfrm>
          <a:prstGeom prst="rect">
            <a:avLst/>
          </a:prstGeom>
          <a:solidFill>
            <a:srgbClr val="14213A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e24c4e2c0_2_0"/>
          <p:cNvSpPr/>
          <p:nvPr/>
        </p:nvSpPr>
        <p:spPr>
          <a:xfrm>
            <a:off x="9518650" y="1819656"/>
            <a:ext cx="13624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F8FAFC"/>
                </a:solidFill>
              </a:rPr>
              <a:t>VoteBox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e24c4e2c0_2_0"/>
          <p:cNvSpPr/>
          <p:nvPr/>
        </p:nvSpPr>
        <p:spPr>
          <a:xfrm>
            <a:off x="11173620" y="475500"/>
            <a:ext cx="109800" cy="20118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g3de24c4e2c0_2_0"/>
          <p:cNvGrpSpPr/>
          <p:nvPr/>
        </p:nvGrpSpPr>
        <p:grpSpPr>
          <a:xfrm>
            <a:off x="786363" y="2249424"/>
            <a:ext cx="10149525" cy="420624"/>
            <a:chOff x="786363" y="2249424"/>
            <a:chExt cx="10149525" cy="420624"/>
          </a:xfrm>
        </p:grpSpPr>
        <p:sp>
          <p:nvSpPr>
            <p:cNvPr id="174" name="Google Shape;174;g3de24c4e2c0_2_0"/>
            <p:cNvSpPr/>
            <p:nvPr/>
          </p:nvSpPr>
          <p:spPr>
            <a:xfrm>
              <a:off x="786363" y="2249424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3de24c4e2c0_2_0"/>
            <p:cNvSpPr/>
            <p:nvPr/>
          </p:nvSpPr>
          <p:spPr>
            <a:xfrm>
              <a:off x="841226" y="2276856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Secure voter authentication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" name="Google Shape;176;g3de24c4e2c0_2_0"/>
            <p:cNvGrpSpPr/>
            <p:nvPr/>
          </p:nvGrpSpPr>
          <p:grpSpPr>
            <a:xfrm>
              <a:off x="3575209" y="2249424"/>
              <a:ext cx="7360679" cy="420600"/>
              <a:chOff x="3575209" y="2249424"/>
              <a:chExt cx="7360679" cy="420600"/>
            </a:xfrm>
          </p:grpSpPr>
          <p:sp>
            <p:nvSpPr>
              <p:cNvPr id="177" name="Google Shape;177;g3de24c4e2c0_2_0"/>
              <p:cNvSpPr/>
              <p:nvPr/>
            </p:nvSpPr>
            <p:spPr>
              <a:xfrm>
                <a:off x="3575209" y="2249424"/>
                <a:ext cx="1472100" cy="420600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g3de24c4e2c0_2_0"/>
              <p:cNvSpPr/>
              <p:nvPr/>
            </p:nvSpPr>
            <p:spPr>
              <a:xfrm>
                <a:off x="3630071" y="2276856"/>
                <a:ext cx="1362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g3de24c4e2c0_2_0"/>
              <p:cNvSpPr/>
              <p:nvPr/>
            </p:nvSpPr>
            <p:spPr>
              <a:xfrm>
                <a:off x="5047353" y="2249424"/>
                <a:ext cx="1472100" cy="420600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de24c4e2c0_2_0"/>
              <p:cNvSpPr/>
              <p:nvPr/>
            </p:nvSpPr>
            <p:spPr>
              <a:xfrm>
                <a:off x="5102216" y="2276856"/>
                <a:ext cx="1362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g3de24c4e2c0_2_0"/>
              <p:cNvSpPr/>
              <p:nvPr/>
            </p:nvSpPr>
            <p:spPr>
              <a:xfrm>
                <a:off x="6519498" y="2249424"/>
                <a:ext cx="1472100" cy="420600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g3de24c4e2c0_2_0"/>
              <p:cNvSpPr/>
              <p:nvPr/>
            </p:nvSpPr>
            <p:spPr>
              <a:xfrm>
                <a:off x="6574361" y="2276856"/>
                <a:ext cx="1362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g3de24c4e2c0_2_0"/>
              <p:cNvSpPr/>
              <p:nvPr/>
            </p:nvSpPr>
            <p:spPr>
              <a:xfrm>
                <a:off x="7991643" y="2249424"/>
                <a:ext cx="1472100" cy="420600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de24c4e2c0_2_0"/>
              <p:cNvSpPr/>
              <p:nvPr/>
            </p:nvSpPr>
            <p:spPr>
              <a:xfrm>
                <a:off x="8046506" y="2276856"/>
                <a:ext cx="1362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g3de24c4e2c0_2_0"/>
              <p:cNvSpPr/>
              <p:nvPr/>
            </p:nvSpPr>
            <p:spPr>
              <a:xfrm>
                <a:off x="9463788" y="2249424"/>
                <a:ext cx="1472100" cy="420600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de24c4e2c0_2_0"/>
              <p:cNvSpPr/>
              <p:nvPr/>
            </p:nvSpPr>
            <p:spPr>
              <a:xfrm>
                <a:off x="9518650" y="2276856"/>
                <a:ext cx="1362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" name="Google Shape;187;g3de24c4e2c0_2_0"/>
          <p:cNvGrpSpPr/>
          <p:nvPr/>
        </p:nvGrpSpPr>
        <p:grpSpPr>
          <a:xfrm>
            <a:off x="786363" y="2670048"/>
            <a:ext cx="10149569" cy="420624"/>
            <a:chOff x="786363" y="2670048"/>
            <a:chExt cx="10149569" cy="420624"/>
          </a:xfrm>
        </p:grpSpPr>
        <p:sp>
          <p:nvSpPr>
            <p:cNvPr id="188" name="Google Shape;188;g3de24c4e2c0_2_0"/>
            <p:cNvSpPr/>
            <p:nvPr/>
          </p:nvSpPr>
          <p:spPr>
            <a:xfrm>
              <a:off x="786363" y="2670048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de24c4e2c0_2_0"/>
            <p:cNvSpPr/>
            <p:nvPr/>
          </p:nvSpPr>
          <p:spPr>
            <a:xfrm>
              <a:off x="841226" y="2697480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EVM-style digital interface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0" name="Google Shape;190;g3de24c4e2c0_2_0"/>
            <p:cNvGrpSpPr/>
            <p:nvPr/>
          </p:nvGrpSpPr>
          <p:grpSpPr>
            <a:xfrm>
              <a:off x="3575209" y="2670048"/>
              <a:ext cx="7360724" cy="420624"/>
              <a:chOff x="3575209" y="2670048"/>
              <a:chExt cx="7360724" cy="420624"/>
            </a:xfrm>
          </p:grpSpPr>
          <p:sp>
            <p:nvSpPr>
              <p:cNvPr id="191" name="Google Shape;191;g3de24c4e2c0_2_0"/>
              <p:cNvSpPr/>
              <p:nvPr/>
            </p:nvSpPr>
            <p:spPr>
              <a:xfrm>
                <a:off x="3575209" y="267004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de24c4e2c0_2_0"/>
              <p:cNvSpPr/>
              <p:nvPr/>
            </p:nvSpPr>
            <p:spPr>
              <a:xfrm>
                <a:off x="3630071" y="269748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g3de24c4e2c0_2_0"/>
              <p:cNvSpPr/>
              <p:nvPr/>
            </p:nvSpPr>
            <p:spPr>
              <a:xfrm>
                <a:off x="5047353" y="267004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g3de24c4e2c0_2_0"/>
              <p:cNvSpPr/>
              <p:nvPr/>
            </p:nvSpPr>
            <p:spPr>
              <a:xfrm>
                <a:off x="5102216" y="269748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g3de24c4e2c0_2_0"/>
              <p:cNvSpPr/>
              <p:nvPr/>
            </p:nvSpPr>
            <p:spPr>
              <a:xfrm>
                <a:off x="6519498" y="267004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de24c4e2c0_2_0"/>
              <p:cNvSpPr/>
              <p:nvPr/>
            </p:nvSpPr>
            <p:spPr>
              <a:xfrm>
                <a:off x="6574361" y="269748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g3de24c4e2c0_2_0"/>
              <p:cNvSpPr/>
              <p:nvPr/>
            </p:nvSpPr>
            <p:spPr>
              <a:xfrm>
                <a:off x="7991643" y="267004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g3de24c4e2c0_2_0"/>
              <p:cNvSpPr/>
              <p:nvPr/>
            </p:nvSpPr>
            <p:spPr>
              <a:xfrm>
                <a:off x="8046506" y="269748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g3de24c4e2c0_2_0"/>
              <p:cNvSpPr/>
              <p:nvPr/>
            </p:nvSpPr>
            <p:spPr>
              <a:xfrm>
                <a:off x="9463788" y="267004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de24c4e2c0_2_0"/>
              <p:cNvSpPr/>
              <p:nvPr/>
            </p:nvSpPr>
            <p:spPr>
              <a:xfrm>
                <a:off x="9518650" y="269748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1" name="Google Shape;201;g3de24c4e2c0_2_0"/>
          <p:cNvGrpSpPr/>
          <p:nvPr/>
        </p:nvGrpSpPr>
        <p:grpSpPr>
          <a:xfrm>
            <a:off x="786363" y="3090672"/>
            <a:ext cx="10149569" cy="420624"/>
            <a:chOff x="786363" y="3090672"/>
            <a:chExt cx="10149569" cy="420624"/>
          </a:xfrm>
        </p:grpSpPr>
        <p:sp>
          <p:nvSpPr>
            <p:cNvPr id="202" name="Google Shape;202;g3de24c4e2c0_2_0"/>
            <p:cNvSpPr/>
            <p:nvPr/>
          </p:nvSpPr>
          <p:spPr>
            <a:xfrm>
              <a:off x="786363" y="3090672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" name="Google Shape;203;g3de24c4e2c0_2_0"/>
            <p:cNvGrpSpPr/>
            <p:nvPr/>
          </p:nvGrpSpPr>
          <p:grpSpPr>
            <a:xfrm>
              <a:off x="841226" y="3090672"/>
              <a:ext cx="10094707" cy="420624"/>
              <a:chOff x="841226" y="3090672"/>
              <a:chExt cx="10094707" cy="420624"/>
            </a:xfrm>
          </p:grpSpPr>
          <p:sp>
            <p:nvSpPr>
              <p:cNvPr id="204" name="Google Shape;204;g3de24c4e2c0_2_0"/>
              <p:cNvSpPr/>
              <p:nvPr/>
            </p:nvSpPr>
            <p:spPr>
              <a:xfrm>
                <a:off x="841226" y="3118104"/>
                <a:ext cx="267912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D6DEEA"/>
                  </a:buClr>
                  <a:buSzPts val="950"/>
                  <a:buFont typeface="Arial"/>
                  <a:buNone/>
                </a:pPr>
                <a:r>
                  <a:rPr b="0" i="0" lang="en-US" sz="950" u="none" cap="none" strike="noStrike">
                    <a:solidFill>
                      <a:srgbClr val="D6DEEA"/>
                    </a:solidFill>
                    <a:latin typeface="Arial"/>
                    <a:ea typeface="Arial"/>
                    <a:cs typeface="Arial"/>
                    <a:sym typeface="Arial"/>
                  </a:rPr>
                  <a:t>Candidate details before voting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5" name="Google Shape;205;g3de24c4e2c0_2_0"/>
              <p:cNvGrpSpPr/>
              <p:nvPr/>
            </p:nvGrpSpPr>
            <p:grpSpPr>
              <a:xfrm>
                <a:off x="3575209" y="3090672"/>
                <a:ext cx="7360724" cy="420624"/>
                <a:chOff x="3575209" y="3090672"/>
                <a:chExt cx="7360724" cy="420624"/>
              </a:xfrm>
            </p:grpSpPr>
            <p:sp>
              <p:nvSpPr>
                <p:cNvPr id="206" name="Google Shape;206;g3de24c4e2c0_2_0"/>
                <p:cNvSpPr/>
                <p:nvPr/>
              </p:nvSpPr>
              <p:spPr>
                <a:xfrm>
                  <a:off x="3575209" y="3090672"/>
                  <a:ext cx="1472145" cy="420624"/>
                </a:xfrm>
                <a:prstGeom prst="rect">
                  <a:avLst/>
                </a:prstGeom>
                <a:solidFill>
                  <a:srgbClr val="101827"/>
                </a:solidFill>
                <a:ln cap="flat" cmpd="sng" w="12700">
                  <a:solidFill>
                    <a:srgbClr val="2B365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" name="Google Shape;207;g3de24c4e2c0_2_0"/>
                <p:cNvSpPr/>
                <p:nvPr/>
              </p:nvSpPr>
              <p:spPr>
                <a:xfrm>
                  <a:off x="3630071" y="3118104"/>
                  <a:ext cx="136242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BBF24"/>
                    </a:buClr>
                    <a:buSzPts val="1900"/>
                    <a:buFont typeface="Arial"/>
                    <a:buNone/>
                  </a:pPr>
                  <a:r>
                    <a:rPr b="1" i="0" lang="en-US" sz="1900" u="none" cap="none" strike="noStrike">
                      <a:solidFill>
                        <a:srgbClr val="FBBF2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◐</a:t>
                  </a:r>
                  <a:endParaRPr b="0" i="0" sz="19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g3de24c4e2c0_2_0"/>
                <p:cNvSpPr/>
                <p:nvPr/>
              </p:nvSpPr>
              <p:spPr>
                <a:xfrm>
                  <a:off x="5047353" y="3090672"/>
                  <a:ext cx="1472145" cy="420624"/>
                </a:xfrm>
                <a:prstGeom prst="rect">
                  <a:avLst/>
                </a:prstGeom>
                <a:solidFill>
                  <a:srgbClr val="101827"/>
                </a:solidFill>
                <a:ln cap="flat" cmpd="sng" w="12700">
                  <a:solidFill>
                    <a:srgbClr val="2B365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g3de24c4e2c0_2_0"/>
                <p:cNvSpPr/>
                <p:nvPr/>
              </p:nvSpPr>
              <p:spPr>
                <a:xfrm>
                  <a:off x="5102216" y="3118104"/>
                  <a:ext cx="136242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BBF24"/>
                    </a:buClr>
                    <a:buSzPts val="1900"/>
                    <a:buFont typeface="Arial"/>
                    <a:buNone/>
                  </a:pPr>
                  <a:r>
                    <a:rPr b="1" i="0" lang="en-US" sz="1900" u="none" cap="none" strike="noStrike">
                      <a:solidFill>
                        <a:srgbClr val="FBBF2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◐</a:t>
                  </a:r>
                  <a:endParaRPr b="0" i="0" sz="19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g3de24c4e2c0_2_0"/>
                <p:cNvSpPr/>
                <p:nvPr/>
              </p:nvSpPr>
              <p:spPr>
                <a:xfrm>
                  <a:off x="6519498" y="3090672"/>
                  <a:ext cx="1472145" cy="420624"/>
                </a:xfrm>
                <a:prstGeom prst="rect">
                  <a:avLst/>
                </a:prstGeom>
                <a:solidFill>
                  <a:srgbClr val="101827"/>
                </a:solidFill>
                <a:ln cap="flat" cmpd="sng" w="12700">
                  <a:solidFill>
                    <a:srgbClr val="2B365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" name="Google Shape;211;g3de24c4e2c0_2_0"/>
                <p:cNvSpPr/>
                <p:nvPr/>
              </p:nvSpPr>
              <p:spPr>
                <a:xfrm>
                  <a:off x="6574361" y="3118104"/>
                  <a:ext cx="136242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2C55E"/>
                    </a:buClr>
                    <a:buSzPts val="1900"/>
                    <a:buFont typeface="Arial"/>
                    <a:buNone/>
                  </a:pPr>
                  <a:r>
                    <a:rPr b="1" i="0" lang="en-US" sz="1900" u="none" cap="none" strike="noStrike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✓</a:t>
                  </a:r>
                  <a:endParaRPr b="0" i="0" sz="19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g3de24c4e2c0_2_0"/>
                <p:cNvSpPr/>
                <p:nvPr/>
              </p:nvSpPr>
              <p:spPr>
                <a:xfrm>
                  <a:off x="7991643" y="3090672"/>
                  <a:ext cx="1472145" cy="420624"/>
                </a:xfrm>
                <a:prstGeom prst="rect">
                  <a:avLst/>
                </a:prstGeom>
                <a:solidFill>
                  <a:srgbClr val="101827"/>
                </a:solidFill>
                <a:ln cap="flat" cmpd="sng" w="12700">
                  <a:solidFill>
                    <a:srgbClr val="2B365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" name="Google Shape;213;g3de24c4e2c0_2_0"/>
                <p:cNvSpPr/>
                <p:nvPr/>
              </p:nvSpPr>
              <p:spPr>
                <a:xfrm>
                  <a:off x="8046506" y="3118104"/>
                  <a:ext cx="136242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BBF24"/>
                    </a:buClr>
                    <a:buSzPts val="1900"/>
                    <a:buFont typeface="Arial"/>
                    <a:buNone/>
                  </a:pPr>
                  <a:r>
                    <a:rPr b="1" i="0" lang="en-US" sz="1900" u="none" cap="none" strike="noStrike">
                      <a:solidFill>
                        <a:srgbClr val="FBBF24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◐</a:t>
                  </a:r>
                  <a:endParaRPr b="0" i="0" sz="19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g3de24c4e2c0_2_0"/>
                <p:cNvSpPr/>
                <p:nvPr/>
              </p:nvSpPr>
              <p:spPr>
                <a:xfrm>
                  <a:off x="9463788" y="3090672"/>
                  <a:ext cx="1472145" cy="420624"/>
                </a:xfrm>
                <a:prstGeom prst="rect">
                  <a:avLst/>
                </a:prstGeom>
                <a:solidFill>
                  <a:srgbClr val="101827"/>
                </a:solidFill>
                <a:ln cap="flat" cmpd="sng" w="12700">
                  <a:solidFill>
                    <a:srgbClr val="2B365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" name="Google Shape;215;g3de24c4e2c0_2_0"/>
                <p:cNvSpPr/>
                <p:nvPr/>
              </p:nvSpPr>
              <p:spPr>
                <a:xfrm>
                  <a:off x="9518650" y="3118104"/>
                  <a:ext cx="136242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2C55E"/>
                    </a:buClr>
                    <a:buSzPts val="1900"/>
                    <a:buFont typeface="Arial"/>
                    <a:buNone/>
                  </a:pPr>
                  <a:r>
                    <a:rPr b="1" i="0" lang="en-US" sz="1900" u="none" cap="none" strike="noStrike">
                      <a:solidFill>
                        <a:srgbClr val="22C55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✓</a:t>
                  </a:r>
                  <a:endParaRPr b="0" i="0" sz="19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16" name="Google Shape;216;g3de24c4e2c0_2_0"/>
          <p:cNvGrpSpPr/>
          <p:nvPr/>
        </p:nvGrpSpPr>
        <p:grpSpPr>
          <a:xfrm>
            <a:off x="786363" y="3511296"/>
            <a:ext cx="10149569" cy="420624"/>
            <a:chOff x="786363" y="3511296"/>
            <a:chExt cx="10149569" cy="420624"/>
          </a:xfrm>
        </p:grpSpPr>
        <p:sp>
          <p:nvSpPr>
            <p:cNvPr id="217" name="Google Shape;217;g3de24c4e2c0_2_0"/>
            <p:cNvSpPr/>
            <p:nvPr/>
          </p:nvSpPr>
          <p:spPr>
            <a:xfrm>
              <a:off x="786363" y="3511296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g3de24c4e2c0_2_0"/>
            <p:cNvSpPr/>
            <p:nvPr/>
          </p:nvSpPr>
          <p:spPr>
            <a:xfrm>
              <a:off x="841226" y="3538728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Vote verification with ID / hash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9" name="Google Shape;219;g3de24c4e2c0_2_0"/>
            <p:cNvGrpSpPr/>
            <p:nvPr/>
          </p:nvGrpSpPr>
          <p:grpSpPr>
            <a:xfrm>
              <a:off x="3575209" y="3511296"/>
              <a:ext cx="7360724" cy="420624"/>
              <a:chOff x="3575209" y="3511296"/>
              <a:chExt cx="7360724" cy="420624"/>
            </a:xfrm>
          </p:grpSpPr>
          <p:sp>
            <p:nvSpPr>
              <p:cNvPr id="220" name="Google Shape;220;g3de24c4e2c0_2_0"/>
              <p:cNvSpPr/>
              <p:nvPr/>
            </p:nvSpPr>
            <p:spPr>
              <a:xfrm>
                <a:off x="3575209" y="3511296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de24c4e2c0_2_0"/>
              <p:cNvSpPr/>
              <p:nvPr/>
            </p:nvSpPr>
            <p:spPr>
              <a:xfrm>
                <a:off x="3630071" y="3538728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g3de24c4e2c0_2_0"/>
              <p:cNvSpPr/>
              <p:nvPr/>
            </p:nvSpPr>
            <p:spPr>
              <a:xfrm>
                <a:off x="5047353" y="3511296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g3de24c4e2c0_2_0"/>
              <p:cNvSpPr/>
              <p:nvPr/>
            </p:nvSpPr>
            <p:spPr>
              <a:xfrm>
                <a:off x="5102216" y="3538728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g3de24c4e2c0_2_0"/>
              <p:cNvSpPr/>
              <p:nvPr/>
            </p:nvSpPr>
            <p:spPr>
              <a:xfrm>
                <a:off x="6519498" y="3511296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de24c4e2c0_2_0"/>
              <p:cNvSpPr/>
              <p:nvPr/>
            </p:nvSpPr>
            <p:spPr>
              <a:xfrm>
                <a:off x="6574361" y="3538728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g3de24c4e2c0_2_0"/>
              <p:cNvSpPr/>
              <p:nvPr/>
            </p:nvSpPr>
            <p:spPr>
              <a:xfrm>
                <a:off x="7991643" y="3511296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de24c4e2c0_2_0"/>
              <p:cNvSpPr/>
              <p:nvPr/>
            </p:nvSpPr>
            <p:spPr>
              <a:xfrm>
                <a:off x="8046506" y="3538728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g3de24c4e2c0_2_0"/>
              <p:cNvSpPr/>
              <p:nvPr/>
            </p:nvSpPr>
            <p:spPr>
              <a:xfrm>
                <a:off x="9463788" y="3511296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de24c4e2c0_2_0"/>
              <p:cNvSpPr/>
              <p:nvPr/>
            </p:nvSpPr>
            <p:spPr>
              <a:xfrm>
                <a:off x="9518650" y="3538728"/>
                <a:ext cx="1362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" name="Google Shape;230;g3de24c4e2c0_2_0"/>
          <p:cNvGrpSpPr/>
          <p:nvPr/>
        </p:nvGrpSpPr>
        <p:grpSpPr>
          <a:xfrm>
            <a:off x="786363" y="3931920"/>
            <a:ext cx="10149569" cy="420624"/>
            <a:chOff x="786363" y="3931920"/>
            <a:chExt cx="10149569" cy="420624"/>
          </a:xfrm>
        </p:grpSpPr>
        <p:sp>
          <p:nvSpPr>
            <p:cNvPr id="231" name="Google Shape;231;g3de24c4e2c0_2_0"/>
            <p:cNvSpPr/>
            <p:nvPr/>
          </p:nvSpPr>
          <p:spPr>
            <a:xfrm>
              <a:off x="786363" y="3931920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g3de24c4e2c0_2_0"/>
            <p:cNvSpPr/>
            <p:nvPr/>
          </p:nvSpPr>
          <p:spPr>
            <a:xfrm>
              <a:off x="841226" y="3959352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Blockchain audit trail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3" name="Google Shape;233;g3de24c4e2c0_2_0"/>
            <p:cNvGrpSpPr/>
            <p:nvPr/>
          </p:nvGrpSpPr>
          <p:grpSpPr>
            <a:xfrm>
              <a:off x="3575209" y="3931920"/>
              <a:ext cx="7360724" cy="420624"/>
              <a:chOff x="3575209" y="3931920"/>
              <a:chExt cx="7360724" cy="420624"/>
            </a:xfrm>
          </p:grpSpPr>
          <p:sp>
            <p:nvSpPr>
              <p:cNvPr id="234" name="Google Shape;234;g3de24c4e2c0_2_0"/>
              <p:cNvSpPr/>
              <p:nvPr/>
            </p:nvSpPr>
            <p:spPr>
              <a:xfrm>
                <a:off x="3575209" y="3931920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de24c4e2c0_2_0"/>
              <p:cNvSpPr/>
              <p:nvPr/>
            </p:nvSpPr>
            <p:spPr>
              <a:xfrm>
                <a:off x="3630071" y="3959352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g3de24c4e2c0_2_0"/>
              <p:cNvSpPr/>
              <p:nvPr/>
            </p:nvSpPr>
            <p:spPr>
              <a:xfrm>
                <a:off x="5047353" y="3931920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de24c4e2c0_2_0"/>
              <p:cNvSpPr/>
              <p:nvPr/>
            </p:nvSpPr>
            <p:spPr>
              <a:xfrm>
                <a:off x="5102216" y="3959352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g3de24c4e2c0_2_0"/>
              <p:cNvSpPr/>
              <p:nvPr/>
            </p:nvSpPr>
            <p:spPr>
              <a:xfrm>
                <a:off x="6519498" y="3931920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g3de24c4e2c0_2_0"/>
              <p:cNvSpPr/>
              <p:nvPr/>
            </p:nvSpPr>
            <p:spPr>
              <a:xfrm>
                <a:off x="6574361" y="3959352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g3de24c4e2c0_2_0"/>
              <p:cNvSpPr/>
              <p:nvPr/>
            </p:nvSpPr>
            <p:spPr>
              <a:xfrm>
                <a:off x="7991643" y="3931920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de24c4e2c0_2_0"/>
              <p:cNvSpPr/>
              <p:nvPr/>
            </p:nvSpPr>
            <p:spPr>
              <a:xfrm>
                <a:off x="8046506" y="3959352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g3de24c4e2c0_2_0"/>
              <p:cNvSpPr/>
              <p:nvPr/>
            </p:nvSpPr>
            <p:spPr>
              <a:xfrm>
                <a:off x="9463788" y="3931920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g3de24c4e2c0_2_0"/>
              <p:cNvSpPr/>
              <p:nvPr/>
            </p:nvSpPr>
            <p:spPr>
              <a:xfrm>
                <a:off x="9518650" y="3959352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4" name="Google Shape;244;g3de24c4e2c0_2_0"/>
          <p:cNvGrpSpPr/>
          <p:nvPr/>
        </p:nvGrpSpPr>
        <p:grpSpPr>
          <a:xfrm>
            <a:off x="786363" y="4352544"/>
            <a:ext cx="10149569" cy="420624"/>
            <a:chOff x="786363" y="4352544"/>
            <a:chExt cx="10149569" cy="420624"/>
          </a:xfrm>
        </p:grpSpPr>
        <p:sp>
          <p:nvSpPr>
            <p:cNvPr id="245" name="Google Shape;245;g3de24c4e2c0_2_0"/>
            <p:cNvSpPr/>
            <p:nvPr/>
          </p:nvSpPr>
          <p:spPr>
            <a:xfrm>
              <a:off x="786363" y="4352544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g3de24c4e2c0_2_0"/>
            <p:cNvSpPr/>
            <p:nvPr/>
          </p:nvSpPr>
          <p:spPr>
            <a:xfrm>
              <a:off x="841226" y="4379976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Live public result portal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" name="Google Shape;247;g3de24c4e2c0_2_0"/>
            <p:cNvGrpSpPr/>
            <p:nvPr/>
          </p:nvGrpSpPr>
          <p:grpSpPr>
            <a:xfrm>
              <a:off x="3575209" y="4352544"/>
              <a:ext cx="7360724" cy="420624"/>
              <a:chOff x="3575209" y="4352544"/>
              <a:chExt cx="7360724" cy="420624"/>
            </a:xfrm>
          </p:grpSpPr>
          <p:sp>
            <p:nvSpPr>
              <p:cNvPr id="248" name="Google Shape;248;g3de24c4e2c0_2_0"/>
              <p:cNvSpPr/>
              <p:nvPr/>
            </p:nvSpPr>
            <p:spPr>
              <a:xfrm>
                <a:off x="3575209" y="4352544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g3de24c4e2c0_2_0"/>
              <p:cNvSpPr/>
              <p:nvPr/>
            </p:nvSpPr>
            <p:spPr>
              <a:xfrm>
                <a:off x="3630071" y="4379976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g3de24c4e2c0_2_0"/>
              <p:cNvSpPr/>
              <p:nvPr/>
            </p:nvSpPr>
            <p:spPr>
              <a:xfrm>
                <a:off x="5047353" y="4352544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de24c4e2c0_2_0"/>
              <p:cNvSpPr/>
              <p:nvPr/>
            </p:nvSpPr>
            <p:spPr>
              <a:xfrm>
                <a:off x="5102216" y="4379976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g3de24c4e2c0_2_0"/>
              <p:cNvSpPr/>
              <p:nvPr/>
            </p:nvSpPr>
            <p:spPr>
              <a:xfrm>
                <a:off x="6519498" y="4352544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de24c4e2c0_2_0"/>
              <p:cNvSpPr/>
              <p:nvPr/>
            </p:nvSpPr>
            <p:spPr>
              <a:xfrm>
                <a:off x="6574361" y="4379976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g3de24c4e2c0_2_0"/>
              <p:cNvSpPr/>
              <p:nvPr/>
            </p:nvSpPr>
            <p:spPr>
              <a:xfrm>
                <a:off x="7991643" y="4352544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g3de24c4e2c0_2_0"/>
              <p:cNvSpPr/>
              <p:nvPr/>
            </p:nvSpPr>
            <p:spPr>
              <a:xfrm>
                <a:off x="8046506" y="4379976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g3de24c4e2c0_2_0"/>
              <p:cNvSpPr/>
              <p:nvPr/>
            </p:nvSpPr>
            <p:spPr>
              <a:xfrm>
                <a:off x="9463788" y="4352544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de24c4e2c0_2_0"/>
              <p:cNvSpPr/>
              <p:nvPr/>
            </p:nvSpPr>
            <p:spPr>
              <a:xfrm>
                <a:off x="9518650" y="4379976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" name="Google Shape;258;g3de24c4e2c0_2_0"/>
          <p:cNvGrpSpPr/>
          <p:nvPr/>
        </p:nvGrpSpPr>
        <p:grpSpPr>
          <a:xfrm>
            <a:off x="786363" y="4773168"/>
            <a:ext cx="10149569" cy="420624"/>
            <a:chOff x="786363" y="4773168"/>
            <a:chExt cx="10149569" cy="420624"/>
          </a:xfrm>
        </p:grpSpPr>
        <p:sp>
          <p:nvSpPr>
            <p:cNvPr id="259" name="Google Shape;259;g3de24c4e2c0_2_0"/>
            <p:cNvSpPr/>
            <p:nvPr/>
          </p:nvSpPr>
          <p:spPr>
            <a:xfrm>
              <a:off x="786363" y="4773168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g3de24c4e2c0_2_0"/>
            <p:cNvSpPr/>
            <p:nvPr/>
          </p:nvSpPr>
          <p:spPr>
            <a:xfrm>
              <a:off x="841226" y="4800600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Admin election management panel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" name="Google Shape;261;g3de24c4e2c0_2_0"/>
            <p:cNvGrpSpPr/>
            <p:nvPr/>
          </p:nvGrpSpPr>
          <p:grpSpPr>
            <a:xfrm>
              <a:off x="3575209" y="4773168"/>
              <a:ext cx="7360724" cy="420624"/>
              <a:chOff x="3575209" y="4773168"/>
              <a:chExt cx="7360724" cy="420624"/>
            </a:xfrm>
          </p:grpSpPr>
          <p:sp>
            <p:nvSpPr>
              <p:cNvPr id="262" name="Google Shape;262;g3de24c4e2c0_2_0"/>
              <p:cNvSpPr/>
              <p:nvPr/>
            </p:nvSpPr>
            <p:spPr>
              <a:xfrm>
                <a:off x="3575209" y="477316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g3de24c4e2c0_2_0"/>
              <p:cNvSpPr/>
              <p:nvPr/>
            </p:nvSpPr>
            <p:spPr>
              <a:xfrm>
                <a:off x="3630071" y="480060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g3de24c4e2c0_2_0"/>
              <p:cNvSpPr/>
              <p:nvPr/>
            </p:nvSpPr>
            <p:spPr>
              <a:xfrm>
                <a:off x="5047353" y="477316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de24c4e2c0_2_0"/>
              <p:cNvSpPr/>
              <p:nvPr/>
            </p:nvSpPr>
            <p:spPr>
              <a:xfrm>
                <a:off x="5102216" y="480060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g3de24c4e2c0_2_0"/>
              <p:cNvSpPr/>
              <p:nvPr/>
            </p:nvSpPr>
            <p:spPr>
              <a:xfrm>
                <a:off x="6519498" y="477316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g3de24c4e2c0_2_0"/>
              <p:cNvSpPr/>
              <p:nvPr/>
            </p:nvSpPr>
            <p:spPr>
              <a:xfrm>
                <a:off x="6574361" y="480060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g3de24c4e2c0_2_0"/>
              <p:cNvSpPr/>
              <p:nvPr/>
            </p:nvSpPr>
            <p:spPr>
              <a:xfrm>
                <a:off x="7991643" y="477316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g3de24c4e2c0_2_0"/>
              <p:cNvSpPr/>
              <p:nvPr/>
            </p:nvSpPr>
            <p:spPr>
              <a:xfrm>
                <a:off x="8046506" y="480060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g3de24c4e2c0_2_0"/>
              <p:cNvSpPr/>
              <p:nvPr/>
            </p:nvSpPr>
            <p:spPr>
              <a:xfrm>
                <a:off x="9463788" y="4773168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g3de24c4e2c0_2_0"/>
              <p:cNvSpPr/>
              <p:nvPr/>
            </p:nvSpPr>
            <p:spPr>
              <a:xfrm>
                <a:off x="9518650" y="4800600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2" name="Google Shape;272;g3de24c4e2c0_2_0"/>
          <p:cNvGrpSpPr/>
          <p:nvPr/>
        </p:nvGrpSpPr>
        <p:grpSpPr>
          <a:xfrm>
            <a:off x="786363" y="5193792"/>
            <a:ext cx="10149569" cy="420624"/>
            <a:chOff x="786363" y="5193792"/>
            <a:chExt cx="10149569" cy="420624"/>
          </a:xfrm>
        </p:grpSpPr>
        <p:sp>
          <p:nvSpPr>
            <p:cNvPr id="273" name="Google Shape;273;g3de24c4e2c0_2_0"/>
            <p:cNvSpPr/>
            <p:nvPr/>
          </p:nvSpPr>
          <p:spPr>
            <a:xfrm>
              <a:off x="786363" y="5193792"/>
              <a:ext cx="2788846" cy="420624"/>
            </a:xfrm>
            <a:prstGeom prst="rect">
              <a:avLst/>
            </a:prstGeom>
            <a:solidFill>
              <a:srgbClr val="101827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g3de24c4e2c0_2_0"/>
            <p:cNvSpPr/>
            <p:nvPr/>
          </p:nvSpPr>
          <p:spPr>
            <a:xfrm>
              <a:off x="841226" y="5221224"/>
              <a:ext cx="26791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DEEA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D6DEEA"/>
                  </a:solidFill>
                  <a:latin typeface="Arial"/>
                  <a:ea typeface="Arial"/>
                  <a:cs typeface="Arial"/>
                  <a:sym typeface="Arial"/>
                </a:rPr>
                <a:t>Accessibility / mobile-friendly UI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5" name="Google Shape;275;g3de24c4e2c0_2_0"/>
            <p:cNvGrpSpPr/>
            <p:nvPr/>
          </p:nvGrpSpPr>
          <p:grpSpPr>
            <a:xfrm>
              <a:off x="3575209" y="5193792"/>
              <a:ext cx="7360724" cy="420624"/>
              <a:chOff x="3575209" y="5193792"/>
              <a:chExt cx="7360724" cy="420624"/>
            </a:xfrm>
          </p:grpSpPr>
          <p:sp>
            <p:nvSpPr>
              <p:cNvPr id="276" name="Google Shape;276;g3de24c4e2c0_2_0"/>
              <p:cNvSpPr/>
              <p:nvPr/>
            </p:nvSpPr>
            <p:spPr>
              <a:xfrm>
                <a:off x="3575209" y="5193792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g3de24c4e2c0_2_0"/>
              <p:cNvSpPr/>
              <p:nvPr/>
            </p:nvSpPr>
            <p:spPr>
              <a:xfrm>
                <a:off x="3630071" y="5221224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g3de24c4e2c0_2_0"/>
              <p:cNvSpPr/>
              <p:nvPr/>
            </p:nvSpPr>
            <p:spPr>
              <a:xfrm>
                <a:off x="5047353" y="5193792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g3de24c4e2c0_2_0"/>
              <p:cNvSpPr/>
              <p:nvPr/>
            </p:nvSpPr>
            <p:spPr>
              <a:xfrm>
                <a:off x="5102216" y="5221224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43F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✕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g3de24c4e2c0_2_0"/>
              <p:cNvSpPr/>
              <p:nvPr/>
            </p:nvSpPr>
            <p:spPr>
              <a:xfrm>
                <a:off x="6519498" y="5193792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g3de24c4e2c0_2_0"/>
              <p:cNvSpPr/>
              <p:nvPr/>
            </p:nvSpPr>
            <p:spPr>
              <a:xfrm>
                <a:off x="6574361" y="5221224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g3de24c4e2c0_2_0"/>
              <p:cNvSpPr/>
              <p:nvPr/>
            </p:nvSpPr>
            <p:spPr>
              <a:xfrm>
                <a:off x="7991643" y="5193792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g3de24c4e2c0_2_0"/>
              <p:cNvSpPr/>
              <p:nvPr/>
            </p:nvSpPr>
            <p:spPr>
              <a:xfrm>
                <a:off x="8046506" y="5221224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BBF24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FBBF24"/>
                    </a:solidFill>
                    <a:latin typeface="Arial"/>
                    <a:ea typeface="Arial"/>
                    <a:cs typeface="Arial"/>
                    <a:sym typeface="Arial"/>
                  </a:rPr>
                  <a:t>◐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g3de24c4e2c0_2_0"/>
              <p:cNvSpPr/>
              <p:nvPr/>
            </p:nvSpPr>
            <p:spPr>
              <a:xfrm>
                <a:off x="9463788" y="5193792"/>
                <a:ext cx="1472145" cy="420624"/>
              </a:xfrm>
              <a:prstGeom prst="rect">
                <a:avLst/>
              </a:prstGeom>
              <a:solidFill>
                <a:srgbClr val="101827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g3de24c4e2c0_2_0"/>
              <p:cNvSpPr/>
              <p:nvPr/>
            </p:nvSpPr>
            <p:spPr>
              <a:xfrm>
                <a:off x="9518650" y="5221224"/>
                <a:ext cx="13624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2C55E"/>
                  </a:buClr>
                  <a:buSzPts val="1900"/>
                  <a:buFont typeface="Arial"/>
                  <a:buNone/>
                </a:pPr>
                <a:r>
                  <a:rPr b="1" i="0" lang="en-US" sz="1900" u="none" cap="none" strike="noStrike">
                    <a:solidFill>
                      <a:srgbClr val="22C55E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b="0" i="0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6" name="Google Shape;286;g3de24c4e2c0_2_0"/>
          <p:cNvSpPr/>
          <p:nvPr/>
        </p:nvSpPr>
        <p:spPr>
          <a:xfrm>
            <a:off x="896088" y="5870448"/>
            <a:ext cx="10039844" cy="365760"/>
          </a:xfrm>
          <a:prstGeom prst="roundRect">
            <a:avLst>
              <a:gd fmla="val 20000" name="adj"/>
            </a:avLst>
          </a:prstGeom>
          <a:solidFill>
            <a:srgbClr val="11233B"/>
          </a:solidFill>
          <a:ln cap="flat" cmpd="sng" w="1270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e24c4e2c0_2_0"/>
          <p:cNvSpPr/>
          <p:nvPr/>
        </p:nvSpPr>
        <p:spPr>
          <a:xfrm>
            <a:off x="1060676" y="5925312"/>
            <a:ext cx="971066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Benchmark gap: most systems solve only one part—speed, convenience, or auditability—while the proposed design combines voter UX, admin control, and public transparency.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e24c4e2c0_2_0"/>
          <p:cNvSpPr/>
          <p:nvPr/>
        </p:nvSpPr>
        <p:spPr>
          <a:xfrm>
            <a:off x="11630858" y="6419088"/>
            <a:ext cx="21945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e24c4e2c0_4_0"/>
          <p:cNvSpPr/>
          <p:nvPr/>
        </p:nvSpPr>
        <p:spPr>
          <a:xfrm>
            <a:off x="11155680" y="457200"/>
            <a:ext cx="109800" cy="20118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de24c4e2c0_4_0"/>
          <p:cNvSpPr/>
          <p:nvPr/>
        </p:nvSpPr>
        <p:spPr>
          <a:xfrm>
            <a:off x="11411712" y="548640"/>
            <a:ext cx="109800" cy="109800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e24c4e2c0_4_0"/>
          <p:cNvSpPr/>
          <p:nvPr/>
        </p:nvSpPr>
        <p:spPr>
          <a:xfrm>
            <a:off x="11594592" y="822960"/>
            <a:ext cx="109800" cy="109800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e24c4e2c0_4_0"/>
          <p:cNvSpPr/>
          <p:nvPr/>
        </p:nvSpPr>
        <p:spPr>
          <a:xfrm>
            <a:off x="11411712" y="1097280"/>
            <a:ext cx="109800" cy="1098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e24c4e2c0_4_0"/>
          <p:cNvSpPr/>
          <p:nvPr/>
        </p:nvSpPr>
        <p:spPr>
          <a:xfrm>
            <a:off x="566928" y="475488"/>
            <a:ext cx="73200" cy="3840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e24c4e2c0_4_0"/>
          <p:cNvSpPr/>
          <p:nvPr/>
        </p:nvSpPr>
        <p:spPr>
          <a:xfrm>
            <a:off x="768096" y="42976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PROJECT SCOPE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e24c4e2c0_4_0"/>
          <p:cNvSpPr/>
          <p:nvPr/>
        </p:nvSpPr>
        <p:spPr>
          <a:xfrm>
            <a:off x="10104120" y="347472"/>
            <a:ext cx="941700" cy="384000"/>
          </a:xfrm>
          <a:prstGeom prst="roundRect">
            <a:avLst>
              <a:gd fmla="val 14286" name="adj"/>
            </a:avLst>
          </a:prstGeom>
          <a:solidFill>
            <a:srgbClr val="182136">
              <a:alpha val="94117"/>
            </a:srgbClr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de24c4e2c0_4_0"/>
          <p:cNvSpPr/>
          <p:nvPr/>
        </p:nvSpPr>
        <p:spPr>
          <a:xfrm>
            <a:off x="10104120" y="429768"/>
            <a:ext cx="941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e24c4e2c0_4_0"/>
          <p:cNvSpPr/>
          <p:nvPr/>
        </p:nvSpPr>
        <p:spPr>
          <a:xfrm>
            <a:off x="768096" y="804672"/>
            <a:ext cx="932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50"/>
              <a:buFont typeface="Play"/>
              <a:buNone/>
            </a:pPr>
            <a:r>
              <a:rPr b="1" i="0" lang="en-US" sz="235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4. Project Scope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de24c4e2c0_4_0"/>
          <p:cNvSpPr/>
          <p:nvPr/>
        </p:nvSpPr>
        <p:spPr>
          <a:xfrm>
            <a:off x="768096" y="1316736"/>
            <a:ext cx="9875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The project scope is intentionally focused on UI/UX design so that the proposal remains realistic for a lab course while still showing strong system thinking.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de24c4e2c0_4_0"/>
          <p:cNvSpPr/>
          <p:nvPr/>
        </p:nvSpPr>
        <p:spPr>
          <a:xfrm>
            <a:off x="11631168" y="6419088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90A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090A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de24c4e2c0_4_0"/>
          <p:cNvSpPr/>
          <p:nvPr/>
        </p:nvSpPr>
        <p:spPr>
          <a:xfrm>
            <a:off x="768091" y="1773825"/>
            <a:ext cx="10078200" cy="4242900"/>
          </a:xfrm>
          <a:prstGeom prst="roundRect">
            <a:avLst>
              <a:gd fmla="val 1724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de24c4e2c0_4_0"/>
          <p:cNvSpPr/>
          <p:nvPr/>
        </p:nvSpPr>
        <p:spPr>
          <a:xfrm>
            <a:off x="950976" y="1938528"/>
            <a:ext cx="91500" cy="39135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de24c4e2c0_4_0"/>
          <p:cNvSpPr/>
          <p:nvPr/>
        </p:nvSpPr>
        <p:spPr>
          <a:xfrm>
            <a:off x="1170432" y="1938528"/>
            <a:ext cx="4434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In scope for the lab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e24c4e2c0_4_0"/>
          <p:cNvSpPr/>
          <p:nvPr/>
        </p:nvSpPr>
        <p:spPr>
          <a:xfrm>
            <a:off x="1133856" y="2249424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e24c4e2c0_4_0"/>
          <p:cNvSpPr/>
          <p:nvPr/>
        </p:nvSpPr>
        <p:spPr>
          <a:xfrm>
            <a:off x="1289295" y="2121400"/>
            <a:ext cx="9327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User research assumptions, personas, and stakeholder mapping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de24c4e2c0_4_0"/>
          <p:cNvSpPr/>
          <p:nvPr/>
        </p:nvSpPr>
        <p:spPr>
          <a:xfrm>
            <a:off x="1133856" y="2724912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de24c4e2c0_4_0"/>
          <p:cNvSpPr/>
          <p:nvPr/>
        </p:nvSpPr>
        <p:spPr>
          <a:xfrm>
            <a:off x="1289295" y="2596900"/>
            <a:ext cx="92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Information architecture for the three portals and their key pages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de24c4e2c0_4_0"/>
          <p:cNvSpPr/>
          <p:nvPr/>
        </p:nvSpPr>
        <p:spPr>
          <a:xfrm>
            <a:off x="1133856" y="3200400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de24c4e2c0_4_0"/>
          <p:cNvSpPr/>
          <p:nvPr/>
        </p:nvSpPr>
        <p:spPr>
          <a:xfrm>
            <a:off x="1289295" y="3072375"/>
            <a:ext cx="92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Low-fidelity wireframes and high-fidelity screen designs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e24c4e2c0_4_0"/>
          <p:cNvSpPr/>
          <p:nvPr/>
        </p:nvSpPr>
        <p:spPr>
          <a:xfrm>
            <a:off x="1133856" y="367588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e24c4e2c0_4_0"/>
          <p:cNvSpPr/>
          <p:nvPr/>
        </p:nvSpPr>
        <p:spPr>
          <a:xfrm>
            <a:off x="1289295" y="3547875"/>
            <a:ext cx="92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Core flows: login, vote casting, confirmation, dashboard monitoring, and live result viewing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de24c4e2c0_4_0"/>
          <p:cNvSpPr/>
          <p:nvPr/>
        </p:nvSpPr>
        <p:spPr>
          <a:xfrm>
            <a:off x="1133856" y="4151376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de24c4e2c0_4_0"/>
          <p:cNvSpPr/>
          <p:nvPr/>
        </p:nvSpPr>
        <p:spPr>
          <a:xfrm>
            <a:off x="1289295" y="4023350"/>
            <a:ext cx="92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Trust-oriented design elements such as receipts, status indicators, and audit visibility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de24c4e2c0_4_0"/>
          <p:cNvSpPr/>
          <p:nvPr/>
        </p:nvSpPr>
        <p:spPr>
          <a:xfrm>
            <a:off x="1133856" y="4626864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de24c4e2c0_4_0"/>
          <p:cNvSpPr/>
          <p:nvPr/>
        </p:nvSpPr>
        <p:spPr>
          <a:xfrm>
            <a:off x="1289295" y="4498850"/>
            <a:ext cx="923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Accessibility, mobile responsiveness, and multilingual considerations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g3de24c4e2c0_4_0"/>
          <p:cNvGrpSpPr/>
          <p:nvPr/>
        </p:nvGrpSpPr>
        <p:grpSpPr>
          <a:xfrm>
            <a:off x="1897200" y="5459050"/>
            <a:ext cx="7819651" cy="384000"/>
            <a:chOff x="1897200" y="5459050"/>
            <a:chExt cx="7819651" cy="384000"/>
          </a:xfrm>
        </p:grpSpPr>
        <p:sp>
          <p:nvSpPr>
            <p:cNvPr id="321" name="Google Shape;321;g3de24c4e2c0_4_0"/>
            <p:cNvSpPr/>
            <p:nvPr/>
          </p:nvSpPr>
          <p:spPr>
            <a:xfrm>
              <a:off x="1897200" y="5459050"/>
              <a:ext cx="1225200" cy="365700"/>
            </a:xfrm>
            <a:prstGeom prst="roundRect">
              <a:avLst>
                <a:gd fmla="val 23529" name="adj"/>
              </a:avLst>
            </a:prstGeom>
            <a:solidFill>
              <a:srgbClr val="7C5CFF">
                <a:alpha val="92156"/>
              </a:srgbClr>
            </a:solidFill>
            <a:ln cap="flat" cmpd="sng" w="12700">
              <a:solidFill>
                <a:srgbClr val="7C5CFF">
                  <a:alpha val="5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95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ux prototype</a:t>
              </a:r>
              <a:endParaRPr b="0" i="0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de24c4e2c0_4_0"/>
            <p:cNvSpPr/>
            <p:nvPr/>
          </p:nvSpPr>
          <p:spPr>
            <a:xfrm>
              <a:off x="4844925" y="5477350"/>
              <a:ext cx="1389900" cy="365700"/>
            </a:xfrm>
            <a:prstGeom prst="roundRect">
              <a:avLst>
                <a:gd fmla="val 23529" name="adj"/>
              </a:avLst>
            </a:prstGeom>
            <a:solidFill>
              <a:srgbClr val="33C6FF">
                <a:alpha val="92156"/>
              </a:srgbClr>
            </a:solidFill>
            <a:ln cap="flat" cmpd="sng" w="12700">
              <a:solidFill>
                <a:srgbClr val="33C6FF">
                  <a:alpha val="5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de24c4e2c0_4_0"/>
            <p:cNvSpPr/>
            <p:nvPr/>
          </p:nvSpPr>
          <p:spPr>
            <a:xfrm>
              <a:off x="4844933" y="5632704"/>
              <a:ext cx="13899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3 portals</a:t>
              </a:r>
              <a:endPara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de24c4e2c0_4_0"/>
            <p:cNvSpPr/>
            <p:nvPr/>
          </p:nvSpPr>
          <p:spPr>
            <a:xfrm>
              <a:off x="8326950" y="5468150"/>
              <a:ext cx="1389900" cy="365700"/>
            </a:xfrm>
            <a:prstGeom prst="roundRect">
              <a:avLst>
                <a:gd fmla="val 23529" name="adj"/>
              </a:avLst>
            </a:prstGeom>
            <a:solidFill>
              <a:srgbClr val="22C55E">
                <a:alpha val="92156"/>
              </a:srgbClr>
            </a:solidFill>
            <a:ln cap="flat" cmpd="sng" w="12700">
              <a:solidFill>
                <a:srgbClr val="22C55E">
                  <a:alpha val="5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de24c4e2c0_4_0"/>
            <p:cNvSpPr/>
            <p:nvPr/>
          </p:nvSpPr>
          <p:spPr>
            <a:xfrm>
              <a:off x="8326951" y="5596204"/>
              <a:ext cx="13899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Role-based flows</a:t>
              </a:r>
              <a:endPara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"/>
          <p:cNvSpPr/>
          <p:nvPr/>
        </p:nvSpPr>
        <p:spPr>
          <a:xfrm>
            <a:off x="11155680" y="457200"/>
            <a:ext cx="109728" cy="201168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11411712" y="548640"/>
            <a:ext cx="109728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11594592" y="822960"/>
            <a:ext cx="109728" cy="109728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11411712" y="109728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566928" y="475488"/>
            <a:ext cx="73152" cy="384048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768096" y="42976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10104120" y="347472"/>
            <a:ext cx="941832" cy="384048"/>
          </a:xfrm>
          <a:prstGeom prst="roundRect">
            <a:avLst>
              <a:gd fmla="val 14286" name="adj"/>
            </a:avLst>
          </a:prstGeom>
          <a:solidFill>
            <a:srgbClr val="182136">
              <a:alpha val="94117"/>
            </a:srgbClr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10104120" y="429768"/>
            <a:ext cx="9418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768096" y="804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50"/>
              <a:buFont typeface="Play"/>
              <a:buNone/>
            </a:pPr>
            <a:r>
              <a:rPr b="1" i="0" lang="en-US" sz="235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4. Project Scope and Features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768096" y="1316736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The feature set is organized around the three portals to keep the system modular and easy to explain during the proposal presentation.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11631168" y="64190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0A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090A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86384" y="1810512"/>
            <a:ext cx="3127248" cy="4242816"/>
          </a:xfrm>
          <a:prstGeom prst="roundRect">
            <a:avLst>
              <a:gd fmla="val 2339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1170432" y="1975104"/>
            <a:ext cx="2578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80"/>
              <a:buFont typeface="Play"/>
              <a:buNone/>
            </a:pPr>
            <a:r>
              <a:rPr b="1" i="0" lang="en-US" sz="148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Public Voting Portal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4" name="Google Shape;3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0128" y="19751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6"/>
          <p:cNvSpPr/>
          <p:nvPr/>
        </p:nvSpPr>
        <p:spPr>
          <a:xfrm>
            <a:off x="950976" y="1975104"/>
            <a:ext cx="91440" cy="3913632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6" name="Google Shape;346;p6"/>
          <p:cNvGrpSpPr/>
          <p:nvPr/>
        </p:nvGrpSpPr>
        <p:grpSpPr>
          <a:xfrm>
            <a:off x="1078992" y="2249424"/>
            <a:ext cx="2542032" cy="2633472"/>
            <a:chOff x="1078992" y="2249424"/>
            <a:chExt cx="2542032" cy="2633472"/>
          </a:xfrm>
        </p:grpSpPr>
        <p:sp>
          <p:nvSpPr>
            <p:cNvPr id="347" name="Google Shape;347;p6"/>
            <p:cNvSpPr/>
            <p:nvPr/>
          </p:nvSpPr>
          <p:spPr>
            <a:xfrm>
              <a:off x="1078992" y="2377440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1078992" y="2816352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1078992" y="3255264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1078992" y="4133088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1078992" y="4572000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2" name="Google Shape;352;p6"/>
            <p:cNvGrpSpPr/>
            <p:nvPr/>
          </p:nvGrpSpPr>
          <p:grpSpPr>
            <a:xfrm>
              <a:off x="1078992" y="2249424"/>
              <a:ext cx="2542032" cy="2633472"/>
              <a:chOff x="1078992" y="2249424"/>
              <a:chExt cx="2542032" cy="2633472"/>
            </a:xfrm>
          </p:grpSpPr>
          <p:sp>
            <p:nvSpPr>
              <p:cNvPr id="353" name="Google Shape;353;p6"/>
              <p:cNvSpPr/>
              <p:nvPr/>
            </p:nvSpPr>
            <p:spPr>
              <a:xfrm>
                <a:off x="1234440" y="2249424"/>
                <a:ext cx="238658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105"/>
                  <a:buFont typeface="Arial"/>
                  <a:buNone/>
                </a:pPr>
                <a:r>
                  <a:rPr b="0" i="0" lang="en-US" sz="1105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Secure login using voter ID and OTP concept</a:t>
                </a:r>
                <a:endParaRPr b="0" i="0" sz="110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1234440" y="2688336"/>
                <a:ext cx="238658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105"/>
                  <a:buFont typeface="Arial"/>
                  <a:buNone/>
                </a:pPr>
                <a:r>
                  <a:rPr b="0" i="0" lang="en-US" sz="1105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Candidate list with symbol, profile, and constituency</a:t>
                </a:r>
                <a:endParaRPr b="0" i="0" sz="110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1234440" y="3127248"/>
                <a:ext cx="238658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105"/>
                  <a:buFont typeface="Arial"/>
                  <a:buNone/>
                </a:pPr>
                <a:r>
                  <a:rPr b="0" i="0" lang="en-US" sz="1105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EVM-style ballot selection and review screen</a:t>
                </a:r>
                <a:endParaRPr b="0" i="0" sz="110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6"/>
              <p:cNvSpPr/>
              <p:nvPr/>
            </p:nvSpPr>
            <p:spPr>
              <a:xfrm>
                <a:off x="1078992" y="3694176"/>
                <a:ext cx="73152" cy="73152"/>
              </a:xfrm>
              <a:prstGeom prst="ellipse">
                <a:avLst/>
              </a:prstGeom>
              <a:solidFill>
                <a:srgbClr val="7C5CFF"/>
              </a:solidFill>
              <a:ln cap="flat" cmpd="sng" w="12700">
                <a:solidFill>
                  <a:srgbClr val="7C5CFF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1234440" y="3566160"/>
                <a:ext cx="238658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105"/>
                  <a:buFont typeface="Arial"/>
                  <a:buNone/>
                </a:pPr>
                <a:r>
                  <a:rPr b="0" i="0" lang="en-US" sz="1105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Vote confirmation page before final submission</a:t>
                </a:r>
                <a:endParaRPr b="0" i="0" sz="110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1234440" y="4005072"/>
                <a:ext cx="238658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105"/>
                  <a:buFont typeface="Arial"/>
                  <a:buNone/>
                </a:pPr>
                <a:r>
                  <a:rPr b="0" i="0" lang="en-US" sz="1105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Receipt or reference ID and status tracker</a:t>
                </a:r>
                <a:endParaRPr b="0" i="0" sz="110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6"/>
              <p:cNvSpPr/>
              <p:nvPr/>
            </p:nvSpPr>
            <p:spPr>
              <a:xfrm>
                <a:off x="1234440" y="4443984"/>
                <a:ext cx="238658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105"/>
                  <a:buFont typeface="Arial"/>
                  <a:buNone/>
                </a:pPr>
                <a:r>
                  <a:rPr b="0" i="0" lang="en-US" sz="1105" u="none" cap="none" strike="noStrike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Help, accessibility mode, and multilingual support</a:t>
                </a:r>
                <a:endParaRPr b="0" i="0" sz="1105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0" name="Google Shape;360;p6"/>
          <p:cNvSpPr/>
          <p:nvPr/>
        </p:nvSpPr>
        <p:spPr>
          <a:xfrm>
            <a:off x="4160520" y="1810512"/>
            <a:ext cx="3127248" cy="4242816"/>
          </a:xfrm>
          <a:prstGeom prst="roundRect">
            <a:avLst>
              <a:gd fmla="val 2339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4325112" y="1975104"/>
            <a:ext cx="91440" cy="3913632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"/>
          <p:cNvSpPr/>
          <p:nvPr/>
        </p:nvSpPr>
        <p:spPr>
          <a:xfrm>
            <a:off x="4544568" y="1975104"/>
            <a:ext cx="2578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80"/>
              <a:buFont typeface="Play"/>
              <a:buNone/>
            </a:pPr>
            <a:r>
              <a:rPr b="1" i="0" lang="en-US" sz="148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Admin Panel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3" name="Google Shape;3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4264" y="1975104"/>
            <a:ext cx="347472" cy="3474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6"/>
          <p:cNvGrpSpPr/>
          <p:nvPr/>
        </p:nvGrpSpPr>
        <p:grpSpPr>
          <a:xfrm>
            <a:off x="4453128" y="2249424"/>
            <a:ext cx="2542032" cy="2633472"/>
            <a:chOff x="4453128" y="2249424"/>
            <a:chExt cx="2542032" cy="2633472"/>
          </a:xfrm>
        </p:grpSpPr>
        <p:sp>
          <p:nvSpPr>
            <p:cNvPr id="365" name="Google Shape;365;p6"/>
            <p:cNvSpPr/>
            <p:nvPr/>
          </p:nvSpPr>
          <p:spPr>
            <a:xfrm>
              <a:off x="4453128" y="2377440"/>
              <a:ext cx="73152" cy="73152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4608576" y="2249424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Create elections and define start and end time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4453128" y="2816352"/>
              <a:ext cx="73152" cy="73152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4608576" y="2688336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Manage candidates, voters, and constituencies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4453128" y="3255264"/>
              <a:ext cx="73152" cy="73152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4608576" y="3127248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Approve registrations and monitor turnout live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4453128" y="3694176"/>
              <a:ext cx="73152" cy="73152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4608576" y="3566160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View incidents, complaints, and audit activity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4453128" y="4133088"/>
              <a:ext cx="73152" cy="73152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4608576" y="4005072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Role-based access for super admin and election officers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4453128" y="4572000"/>
              <a:ext cx="73152" cy="73152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4608576" y="4443984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Export summary reports and dashboard snapshots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6"/>
          <p:cNvSpPr/>
          <p:nvPr/>
        </p:nvSpPr>
        <p:spPr>
          <a:xfrm>
            <a:off x="7534656" y="1810512"/>
            <a:ext cx="3127200" cy="4242900"/>
          </a:xfrm>
          <a:prstGeom prst="roundRect">
            <a:avLst>
              <a:gd fmla="val 2339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"/>
          <p:cNvSpPr/>
          <p:nvPr/>
        </p:nvSpPr>
        <p:spPr>
          <a:xfrm>
            <a:off x="7699248" y="1975104"/>
            <a:ext cx="91440" cy="3913632"/>
          </a:xfrm>
          <a:prstGeom prst="rect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"/>
          <p:cNvSpPr/>
          <p:nvPr/>
        </p:nvSpPr>
        <p:spPr>
          <a:xfrm>
            <a:off x="7918704" y="1975104"/>
            <a:ext cx="2578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80"/>
              <a:buFont typeface="Play"/>
              <a:buNone/>
            </a:pPr>
            <a:r>
              <a:rPr b="1" i="0" lang="en-US" sz="148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Live Results Portal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0" name="Google Shape;3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0" y="1975104"/>
            <a:ext cx="347472" cy="3474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1" name="Google Shape;381;p6"/>
          <p:cNvGrpSpPr/>
          <p:nvPr/>
        </p:nvGrpSpPr>
        <p:grpSpPr>
          <a:xfrm>
            <a:off x="7827264" y="2249424"/>
            <a:ext cx="2542032" cy="2633472"/>
            <a:chOff x="7827264" y="2249424"/>
            <a:chExt cx="2542032" cy="2633472"/>
          </a:xfrm>
        </p:grpSpPr>
        <p:sp>
          <p:nvSpPr>
            <p:cNvPr id="382" name="Google Shape;382;p6"/>
            <p:cNvSpPr/>
            <p:nvPr/>
          </p:nvSpPr>
          <p:spPr>
            <a:xfrm>
              <a:off x="7827264" y="2377440"/>
              <a:ext cx="73152" cy="73152"/>
            </a:xfrm>
            <a:prstGeom prst="ellipse">
              <a:avLst/>
            </a:prstGeom>
            <a:solidFill>
              <a:srgbClr val="F15BB5"/>
            </a:solidFill>
            <a:ln cap="flat" cmpd="sng" w="12700">
              <a:solidFill>
                <a:srgbClr val="F15BB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7982712" y="2249424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Real-time verified vote totals and leader board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7827264" y="2816352"/>
              <a:ext cx="73152" cy="73152"/>
            </a:xfrm>
            <a:prstGeom prst="ellipse">
              <a:avLst/>
            </a:prstGeom>
            <a:solidFill>
              <a:srgbClr val="F15BB5"/>
            </a:solidFill>
            <a:ln cap="flat" cmpd="sng" w="12700">
              <a:solidFill>
                <a:srgbClr val="F15BB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7982712" y="2688336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Charts for turnout, candidate count, and percentages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7827264" y="3255264"/>
              <a:ext cx="73152" cy="73152"/>
            </a:xfrm>
            <a:prstGeom prst="ellipse">
              <a:avLst/>
            </a:prstGeom>
            <a:solidFill>
              <a:srgbClr val="F15BB5"/>
            </a:solidFill>
            <a:ln cap="flat" cmpd="sng" w="12700">
              <a:solidFill>
                <a:srgbClr val="F15BB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7982712" y="3127248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Constituency or region filters for comparison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7827264" y="3694176"/>
              <a:ext cx="73152" cy="73152"/>
            </a:xfrm>
            <a:prstGeom prst="ellipse">
              <a:avLst/>
            </a:prstGeom>
            <a:solidFill>
              <a:srgbClr val="F15BB5"/>
            </a:solidFill>
            <a:ln cap="flat" cmpd="sng" w="12700">
              <a:solidFill>
                <a:srgbClr val="F15BB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7982712" y="3566160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Timestamped updates and public transparency badges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7827264" y="4133088"/>
              <a:ext cx="73152" cy="73152"/>
            </a:xfrm>
            <a:prstGeom prst="ellipse">
              <a:avLst/>
            </a:prstGeom>
            <a:solidFill>
              <a:srgbClr val="F15BB5"/>
            </a:solidFill>
            <a:ln cap="flat" cmpd="sng" w="12700">
              <a:solidFill>
                <a:srgbClr val="F15BB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7982712" y="4005072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Verification status linked to blockchain audit layer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7827264" y="4572000"/>
              <a:ext cx="73152" cy="73152"/>
            </a:xfrm>
            <a:prstGeom prst="ellipse">
              <a:avLst/>
            </a:prstGeom>
            <a:solidFill>
              <a:srgbClr val="F15BB5"/>
            </a:solidFill>
            <a:ln cap="flat" cmpd="sng" w="12700">
              <a:solidFill>
                <a:srgbClr val="F15BB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7982712" y="4443984"/>
              <a:ext cx="2386584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5"/>
                <a:buFont typeface="Arial"/>
                <a:buNone/>
              </a:pPr>
              <a:r>
                <a:rPr b="0" i="0" lang="en-US" sz="1105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Public summary page for easy viewing and sharing</a:t>
              </a:r>
              <a:endParaRPr b="0" i="0" sz="11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6"/>
          <p:cNvGrpSpPr/>
          <p:nvPr/>
        </p:nvGrpSpPr>
        <p:grpSpPr>
          <a:xfrm>
            <a:off x="870912" y="6199628"/>
            <a:ext cx="10113300" cy="329100"/>
            <a:chOff x="896112" y="5596128"/>
            <a:chExt cx="10113300" cy="329100"/>
          </a:xfrm>
        </p:grpSpPr>
        <p:sp>
          <p:nvSpPr>
            <p:cNvPr id="395" name="Google Shape;395;p6"/>
            <p:cNvSpPr/>
            <p:nvPr/>
          </p:nvSpPr>
          <p:spPr>
            <a:xfrm>
              <a:off x="896112" y="5596128"/>
              <a:ext cx="10113300" cy="329100"/>
            </a:xfrm>
            <a:prstGeom prst="roundRect">
              <a:avLst>
                <a:gd fmla="val 22222" name="adj"/>
              </a:avLst>
            </a:prstGeom>
            <a:solidFill>
              <a:srgbClr val="182136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1078992" y="5687568"/>
              <a:ext cx="9747600" cy="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Supporting UX features across all portals: notification alerts, clear empty states, search and filters, trust badges, and responsive layouts.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"/>
          <p:cNvSpPr/>
          <p:nvPr/>
        </p:nvSpPr>
        <p:spPr>
          <a:xfrm>
            <a:off x="11155680" y="457200"/>
            <a:ext cx="109728" cy="201168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"/>
          <p:cNvSpPr/>
          <p:nvPr/>
        </p:nvSpPr>
        <p:spPr>
          <a:xfrm>
            <a:off x="11411712" y="548640"/>
            <a:ext cx="109728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11594592" y="822960"/>
            <a:ext cx="109728" cy="109728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11411712" y="109728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"/>
          <p:cNvSpPr/>
          <p:nvPr/>
        </p:nvSpPr>
        <p:spPr>
          <a:xfrm>
            <a:off x="566928" y="475488"/>
            <a:ext cx="73152" cy="384048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768096" y="42976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UI UX DIRECTION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10104120" y="347472"/>
            <a:ext cx="941832" cy="384048"/>
          </a:xfrm>
          <a:prstGeom prst="roundRect">
            <a:avLst>
              <a:gd fmla="val 14286" name="adj"/>
            </a:avLst>
          </a:prstGeom>
          <a:solidFill>
            <a:srgbClr val="182136">
              <a:alpha val="94117"/>
            </a:srgbClr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10104120" y="429768"/>
            <a:ext cx="9418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768096" y="804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50"/>
              <a:buFont typeface="Play"/>
              <a:buNone/>
            </a:pPr>
            <a:r>
              <a:rPr b="1" i="0" lang="en-US" sz="235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Proposed UI/UX Design Direction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768096" y="1316736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This slide previews how the interface style can visually communicate trust, simplicity, and real-time transparency.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11631168" y="64190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0A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090A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786384" y="1792224"/>
            <a:ext cx="3401568" cy="4334256"/>
          </a:xfrm>
          <a:prstGeom prst="roundRect">
            <a:avLst>
              <a:gd fmla="val 2151" name="adj"/>
            </a:avLst>
          </a:prstGeom>
          <a:solidFill>
            <a:srgbClr val="0F172A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127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7"/>
          <p:cNvSpPr/>
          <p:nvPr/>
        </p:nvSpPr>
        <p:spPr>
          <a:xfrm>
            <a:off x="896112" y="1901952"/>
            <a:ext cx="3182112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01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"/>
          <p:cNvSpPr/>
          <p:nvPr/>
        </p:nvSpPr>
        <p:spPr>
          <a:xfrm>
            <a:off x="987552" y="2011680"/>
            <a:ext cx="73152" cy="73152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1133856" y="2011680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7"/>
          <p:cNvSpPr/>
          <p:nvPr/>
        </p:nvSpPr>
        <p:spPr>
          <a:xfrm>
            <a:off x="1280160" y="2011680"/>
            <a:ext cx="73152" cy="7315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"/>
          <p:cNvSpPr/>
          <p:nvPr/>
        </p:nvSpPr>
        <p:spPr>
          <a:xfrm>
            <a:off x="1598812" y="1993397"/>
            <a:ext cx="2333100" cy="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voting-portal.demo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896112" y="2359152"/>
            <a:ext cx="3182112" cy="73152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4334256" y="1792224"/>
            <a:ext cx="3401700" cy="4334400"/>
          </a:xfrm>
          <a:prstGeom prst="roundRect">
            <a:avLst>
              <a:gd fmla="val 2151" name="adj"/>
            </a:avLst>
          </a:prstGeom>
          <a:solidFill>
            <a:srgbClr val="0F172A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127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4443984" y="1901952"/>
            <a:ext cx="3182112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01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4535424" y="2011680"/>
            <a:ext cx="73152" cy="73152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4681728" y="2011680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7"/>
          <p:cNvSpPr/>
          <p:nvPr/>
        </p:nvSpPr>
        <p:spPr>
          <a:xfrm>
            <a:off x="4828032" y="2011680"/>
            <a:ext cx="73152" cy="7315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5559548" y="1975074"/>
            <a:ext cx="1920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admin-panel.demo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4443984" y="2359152"/>
            <a:ext cx="3182112" cy="73152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"/>
          <p:cNvSpPr/>
          <p:nvPr/>
        </p:nvSpPr>
        <p:spPr>
          <a:xfrm>
            <a:off x="7882128" y="1792224"/>
            <a:ext cx="3401568" cy="4334256"/>
          </a:xfrm>
          <a:prstGeom prst="roundRect">
            <a:avLst>
              <a:gd fmla="val 2151" name="adj"/>
            </a:avLst>
          </a:prstGeom>
          <a:solidFill>
            <a:srgbClr val="0F172A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6510" rotWithShape="0" algn="bl" dir="2700000" dist="127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7991856" y="1901952"/>
            <a:ext cx="3182112" cy="384048"/>
          </a:xfrm>
          <a:prstGeom prst="roundRect">
            <a:avLst>
              <a:gd fmla="val 11905" name="adj"/>
            </a:avLst>
          </a:prstGeom>
          <a:solidFill>
            <a:srgbClr val="111827"/>
          </a:solidFill>
          <a:ln cap="flat" cmpd="sng" w="101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"/>
          <p:cNvSpPr/>
          <p:nvPr/>
        </p:nvSpPr>
        <p:spPr>
          <a:xfrm>
            <a:off x="8083296" y="2011680"/>
            <a:ext cx="73152" cy="73152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"/>
          <p:cNvSpPr/>
          <p:nvPr/>
        </p:nvSpPr>
        <p:spPr>
          <a:xfrm>
            <a:off x="8229600" y="2011680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8375904" y="2011680"/>
            <a:ext cx="73152" cy="7315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7"/>
          <p:cNvSpPr/>
          <p:nvPr/>
        </p:nvSpPr>
        <p:spPr>
          <a:xfrm>
            <a:off x="8741674" y="1993401"/>
            <a:ext cx="2286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live-results.demo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7991856" y="2359152"/>
            <a:ext cx="3182112" cy="73152"/>
          </a:xfrm>
          <a:prstGeom prst="rect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7"/>
          <p:cNvSpPr/>
          <p:nvPr/>
        </p:nvSpPr>
        <p:spPr>
          <a:xfrm>
            <a:off x="2816325" y="1993400"/>
            <a:ext cx="914400" cy="237900"/>
          </a:xfrm>
          <a:prstGeom prst="roundRect">
            <a:avLst>
              <a:gd fmla="val 20000" name="adj"/>
            </a:avLst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2889497" y="2075741"/>
            <a:ext cx="713100" cy="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Election 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1024125" y="1591004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Play"/>
              <a:buNone/>
            </a:pPr>
            <a:r>
              <a:rPr b="1" i="0" lang="en-US" sz="132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Choose your candidate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7" name="Google Shape;437;p7"/>
          <p:cNvGrpSpPr/>
          <p:nvPr/>
        </p:nvGrpSpPr>
        <p:grpSpPr>
          <a:xfrm>
            <a:off x="1024128" y="2724912"/>
            <a:ext cx="2834640" cy="493776"/>
            <a:chOff x="1024128" y="2724912"/>
            <a:chExt cx="2834640" cy="493776"/>
          </a:xfrm>
        </p:grpSpPr>
        <p:sp>
          <p:nvSpPr>
            <p:cNvPr id="438" name="Google Shape;438;p7"/>
            <p:cNvSpPr/>
            <p:nvPr/>
          </p:nvSpPr>
          <p:spPr>
            <a:xfrm>
              <a:off x="1024128" y="2724912"/>
              <a:ext cx="2834640" cy="493776"/>
            </a:xfrm>
            <a:prstGeom prst="roundRect">
              <a:avLst>
                <a:gd fmla="val 9259" name="adj"/>
              </a:avLst>
            </a:prstGeom>
            <a:solidFill>
              <a:srgbClr val="111827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1207008" y="2880360"/>
              <a:ext cx="128016" cy="128016"/>
            </a:xfrm>
            <a:prstGeom prst="ellipse">
              <a:avLst/>
            </a:prstGeom>
            <a:solidFill>
              <a:srgbClr val="2F3B54"/>
            </a:solidFill>
            <a:ln cap="flat" cmpd="sng" w="12700">
              <a:solidFill>
                <a:srgbClr val="2F3B54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1426464" y="2816352"/>
              <a:ext cx="137160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10"/>
                <a:buFont typeface="Arial"/>
                <a:buNone/>
              </a:pPr>
              <a:r>
                <a:rPr b="1" i="0" lang="en-US" sz="101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Candidate 1</a:t>
              </a:r>
              <a:endParaRPr b="0" i="0" sz="10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1426464" y="2980944"/>
              <a:ext cx="1463040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Symbol and brief bio</a:t>
              </a:r>
              <a:endParaRPr b="0" i="0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3090672" y="2816352"/>
              <a:ext cx="548640" cy="182880"/>
            </a:xfrm>
            <a:prstGeom prst="roundRect">
              <a:avLst>
                <a:gd fmla="val 20000" name="adj"/>
              </a:avLst>
            </a:prstGeom>
            <a:solidFill>
              <a:srgbClr val="182136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3090672" y="2871216"/>
              <a:ext cx="548640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760"/>
                <a:buFont typeface="Arial"/>
                <a:buNone/>
              </a:pPr>
              <a:r>
                <a:rPr b="0" i="0" lang="en-US" sz="76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View</a:t>
              </a:r>
              <a:endParaRPr b="0" i="0" sz="7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7"/>
          <p:cNvGrpSpPr/>
          <p:nvPr/>
        </p:nvGrpSpPr>
        <p:grpSpPr>
          <a:xfrm>
            <a:off x="1024128" y="3383280"/>
            <a:ext cx="2834640" cy="493776"/>
            <a:chOff x="1024128" y="3383280"/>
            <a:chExt cx="2834640" cy="493776"/>
          </a:xfrm>
        </p:grpSpPr>
        <p:sp>
          <p:nvSpPr>
            <p:cNvPr id="445" name="Google Shape;445;p7"/>
            <p:cNvSpPr/>
            <p:nvPr/>
          </p:nvSpPr>
          <p:spPr>
            <a:xfrm>
              <a:off x="1024128" y="3383280"/>
              <a:ext cx="2834640" cy="493776"/>
            </a:xfrm>
            <a:prstGeom prst="roundRect">
              <a:avLst>
                <a:gd fmla="val 9259" name="adj"/>
              </a:avLst>
            </a:prstGeom>
            <a:solidFill>
              <a:srgbClr val="182346"/>
            </a:solidFill>
            <a:ln cap="flat" cmpd="sng" w="13950">
              <a:solidFill>
                <a:srgbClr val="7C5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1207008" y="3538728"/>
              <a:ext cx="128016" cy="128016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1426464" y="3474720"/>
              <a:ext cx="137160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10"/>
                <a:buFont typeface="Arial"/>
                <a:buNone/>
              </a:pPr>
              <a:r>
                <a:rPr b="1" i="0" lang="en-US" sz="101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Candidate 2</a:t>
              </a:r>
              <a:endParaRPr b="0" i="0" sz="10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1426464" y="3639312"/>
              <a:ext cx="1463040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Symbol and brief bio</a:t>
              </a:r>
              <a:endParaRPr b="0" i="0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3090672" y="3474720"/>
              <a:ext cx="548640" cy="182880"/>
            </a:xfrm>
            <a:prstGeom prst="roundRect">
              <a:avLst>
                <a:gd fmla="val 20000" name="adj"/>
              </a:avLst>
            </a:prstGeom>
            <a:solidFill>
              <a:srgbClr val="7C5CFF"/>
            </a:solidFill>
            <a:ln cap="flat" cmpd="sng" w="10150">
              <a:solidFill>
                <a:srgbClr val="7C5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3090672" y="3529584"/>
              <a:ext cx="548640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760"/>
                <a:buFont typeface="Arial"/>
                <a:buNone/>
              </a:pPr>
              <a:r>
                <a:rPr b="0" i="0" lang="en-US" sz="76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Selected</a:t>
              </a:r>
              <a:endParaRPr b="0" i="0" sz="7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7"/>
          <p:cNvGrpSpPr/>
          <p:nvPr/>
        </p:nvGrpSpPr>
        <p:grpSpPr>
          <a:xfrm>
            <a:off x="1024128" y="4041648"/>
            <a:ext cx="2834640" cy="493776"/>
            <a:chOff x="1024128" y="4041648"/>
            <a:chExt cx="2834640" cy="493776"/>
          </a:xfrm>
        </p:grpSpPr>
        <p:sp>
          <p:nvSpPr>
            <p:cNvPr id="452" name="Google Shape;452;p7"/>
            <p:cNvSpPr/>
            <p:nvPr/>
          </p:nvSpPr>
          <p:spPr>
            <a:xfrm>
              <a:off x="1024128" y="4041648"/>
              <a:ext cx="2834640" cy="493776"/>
            </a:xfrm>
            <a:prstGeom prst="roundRect">
              <a:avLst>
                <a:gd fmla="val 9259" name="adj"/>
              </a:avLst>
            </a:prstGeom>
            <a:solidFill>
              <a:srgbClr val="111827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1207008" y="4197096"/>
              <a:ext cx="128016" cy="128016"/>
            </a:xfrm>
            <a:prstGeom prst="ellipse">
              <a:avLst/>
            </a:prstGeom>
            <a:solidFill>
              <a:srgbClr val="2F3B54"/>
            </a:solidFill>
            <a:ln cap="flat" cmpd="sng" w="12700">
              <a:solidFill>
                <a:srgbClr val="2F3B54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1426464" y="4133088"/>
              <a:ext cx="137160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10"/>
                <a:buFont typeface="Arial"/>
                <a:buNone/>
              </a:pPr>
              <a:r>
                <a:rPr b="1" i="0" lang="en-US" sz="101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Candidate 3</a:t>
              </a:r>
              <a:endParaRPr b="0" i="0" sz="10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1426464" y="4297680"/>
              <a:ext cx="1463040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Symbol and brief bio</a:t>
              </a:r>
              <a:endParaRPr b="0" i="0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3090672" y="4133088"/>
              <a:ext cx="548640" cy="182880"/>
            </a:xfrm>
            <a:prstGeom prst="roundRect">
              <a:avLst>
                <a:gd fmla="val 20000" name="adj"/>
              </a:avLst>
            </a:prstGeom>
            <a:solidFill>
              <a:srgbClr val="182136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3090672" y="4187952"/>
              <a:ext cx="548640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760"/>
                <a:buFont typeface="Arial"/>
                <a:buNone/>
              </a:pPr>
              <a:r>
                <a:rPr b="0" i="0" lang="en-US" sz="76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View</a:t>
              </a:r>
              <a:endParaRPr b="0" i="0" sz="7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7"/>
          <p:cNvGrpSpPr/>
          <p:nvPr/>
        </p:nvGrpSpPr>
        <p:grpSpPr>
          <a:xfrm>
            <a:off x="1024128" y="4882896"/>
            <a:ext cx="2834640" cy="384048"/>
            <a:chOff x="1024128" y="4882896"/>
            <a:chExt cx="2834640" cy="384048"/>
          </a:xfrm>
        </p:grpSpPr>
        <p:sp>
          <p:nvSpPr>
            <p:cNvPr id="459" name="Google Shape;459;p7"/>
            <p:cNvSpPr/>
            <p:nvPr/>
          </p:nvSpPr>
          <p:spPr>
            <a:xfrm>
              <a:off x="1024128" y="4882896"/>
              <a:ext cx="2834640" cy="384048"/>
            </a:xfrm>
            <a:prstGeom prst="roundRect">
              <a:avLst>
                <a:gd fmla="val 11905" name="adj"/>
              </a:avLst>
            </a:prstGeom>
            <a:solidFill>
              <a:srgbClr val="22C55E"/>
            </a:solidFill>
            <a:ln cap="flat" cmpd="sng" w="12700">
              <a:solidFill>
                <a:srgbClr val="22C55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1024128" y="5001768"/>
              <a:ext cx="2834640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920"/>
                <a:buFont typeface="Arial"/>
                <a:buNone/>
              </a:pPr>
              <a:r>
                <a:rPr b="1" i="0" lang="en-US" sz="92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Confirm vote and receive reference ID</a:t>
              </a:r>
              <a:endParaRPr b="0" i="0" sz="9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7"/>
          <p:cNvSpPr/>
          <p:nvPr/>
        </p:nvSpPr>
        <p:spPr>
          <a:xfrm>
            <a:off x="4572000" y="1615042"/>
            <a:ext cx="1828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Play"/>
              <a:buNone/>
            </a:pPr>
            <a:r>
              <a:rPr b="1" i="0" lang="en-US" sz="132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Election Dashboard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p7"/>
          <p:cNvGrpSpPr/>
          <p:nvPr/>
        </p:nvGrpSpPr>
        <p:grpSpPr>
          <a:xfrm>
            <a:off x="4572000" y="2487163"/>
            <a:ext cx="2944341" cy="804625"/>
            <a:chOff x="4572000" y="2286000"/>
            <a:chExt cx="2944341" cy="804625"/>
          </a:xfrm>
        </p:grpSpPr>
        <p:sp>
          <p:nvSpPr>
            <p:cNvPr id="463" name="Google Shape;463;p7"/>
            <p:cNvSpPr/>
            <p:nvPr/>
          </p:nvSpPr>
          <p:spPr>
            <a:xfrm>
              <a:off x="4572000" y="2286000"/>
              <a:ext cx="877800" cy="804600"/>
            </a:xfrm>
            <a:prstGeom prst="roundRect">
              <a:avLst>
                <a:gd fmla="val 6818" name="adj"/>
              </a:avLst>
            </a:prstGeom>
            <a:solidFill>
              <a:srgbClr val="182136"/>
            </a:solidFill>
            <a:ln cap="flat" cmpd="sng" w="1270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4" name="Google Shape;464;p7"/>
            <p:cNvGrpSpPr/>
            <p:nvPr/>
          </p:nvGrpSpPr>
          <p:grpSpPr>
            <a:xfrm>
              <a:off x="4736592" y="2286000"/>
              <a:ext cx="2779749" cy="804625"/>
              <a:chOff x="4736592" y="2286000"/>
              <a:chExt cx="2779749" cy="804625"/>
            </a:xfrm>
          </p:grpSpPr>
          <p:sp>
            <p:nvSpPr>
              <p:cNvPr id="465" name="Google Shape;465;p7"/>
              <p:cNvSpPr/>
              <p:nvPr/>
            </p:nvSpPr>
            <p:spPr>
              <a:xfrm>
                <a:off x="4736592" y="2414016"/>
                <a:ext cx="548640" cy="91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80"/>
                  <a:buFont typeface="Arial"/>
                  <a:buNone/>
                </a:pPr>
                <a:r>
                  <a:rPr b="0" i="0" lang="en-US" sz="98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Turnout</a:t>
                </a:r>
                <a:endParaRPr b="0" i="0" sz="98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7"/>
              <p:cNvSpPr/>
              <p:nvPr/>
            </p:nvSpPr>
            <p:spPr>
              <a:xfrm>
                <a:off x="4736592" y="2633472"/>
                <a:ext cx="548640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3C6FF"/>
                  </a:buClr>
                  <a:buSzPts val="1800"/>
                  <a:buFont typeface="Play"/>
                  <a:buNone/>
                </a:pPr>
                <a:r>
                  <a:rPr b="1" i="0" lang="en-US" sz="1800" u="none" cap="none" strike="noStrike">
                    <a:solidFill>
                      <a:srgbClr val="33C6FF"/>
                    </a:solidFill>
                    <a:latin typeface="Play"/>
                    <a:ea typeface="Play"/>
                    <a:cs typeface="Play"/>
                    <a:sym typeface="Play"/>
                  </a:rPr>
                  <a:t>68%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7"/>
              <p:cNvSpPr/>
              <p:nvPr/>
            </p:nvSpPr>
            <p:spPr>
              <a:xfrm>
                <a:off x="5605277" y="2286000"/>
                <a:ext cx="877800" cy="804600"/>
              </a:xfrm>
              <a:prstGeom prst="roundRect">
                <a:avLst>
                  <a:gd fmla="val 6818" name="adj"/>
                </a:avLst>
              </a:prstGeom>
              <a:solidFill>
                <a:srgbClr val="182136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7"/>
              <p:cNvSpPr/>
              <p:nvPr/>
            </p:nvSpPr>
            <p:spPr>
              <a:xfrm>
                <a:off x="5769869" y="2414016"/>
                <a:ext cx="548700" cy="9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80"/>
                  <a:buFont typeface="Arial"/>
                  <a:buNone/>
                </a:pPr>
                <a:r>
                  <a:rPr b="0" i="0" lang="en-US" sz="98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Votes</a:t>
                </a:r>
                <a:endParaRPr b="0" i="0" sz="98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>
                <a:off x="5769869" y="2633472"/>
                <a:ext cx="5487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7C5CFF"/>
                  </a:buClr>
                  <a:buSzPts val="1800"/>
                  <a:buFont typeface="Play"/>
                  <a:buNone/>
                </a:pPr>
                <a:r>
                  <a:rPr b="1" i="0" lang="en-US" sz="1800" u="none" cap="none" strike="noStrike">
                    <a:solidFill>
                      <a:srgbClr val="7C5CFF"/>
                    </a:solidFill>
                    <a:latin typeface="Play"/>
                    <a:ea typeface="Play"/>
                    <a:cs typeface="Play"/>
                    <a:sym typeface="Play"/>
                  </a:rPr>
                  <a:t>24K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>
                <a:off x="6638541" y="2286025"/>
                <a:ext cx="877800" cy="804600"/>
              </a:xfrm>
              <a:prstGeom prst="roundRect">
                <a:avLst>
                  <a:gd fmla="val 6818" name="adj"/>
                </a:avLst>
              </a:prstGeom>
              <a:solidFill>
                <a:srgbClr val="182136"/>
              </a:solidFill>
              <a:ln cap="flat" cmpd="sng" w="12700">
                <a:solidFill>
                  <a:srgbClr val="2B36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7"/>
              <p:cNvSpPr/>
              <p:nvPr/>
            </p:nvSpPr>
            <p:spPr>
              <a:xfrm>
                <a:off x="6940296" y="2414016"/>
                <a:ext cx="548700" cy="9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80"/>
                  <a:buFont typeface="Arial"/>
                  <a:buNone/>
                </a:pPr>
                <a:r>
                  <a:rPr b="0" i="0" lang="en-US" sz="98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Alerts</a:t>
                </a:r>
                <a:endParaRPr b="0" i="0" sz="98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>
                <a:off x="6940296" y="2633472"/>
                <a:ext cx="548700" cy="1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59E0B"/>
                  </a:buClr>
                  <a:buSzPts val="1800"/>
                  <a:buFont typeface="Play"/>
                  <a:buNone/>
                </a:pPr>
                <a:r>
                  <a:rPr b="1" i="0" lang="en-US" sz="1800" u="none" cap="none" strike="noStrike">
                    <a:solidFill>
                      <a:srgbClr val="F59E0B"/>
                    </a:solidFill>
                    <a:latin typeface="Play"/>
                    <a:ea typeface="Play"/>
                    <a:cs typeface="Play"/>
                    <a:sym typeface="Play"/>
                  </a:rPr>
                  <a:t>03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3" name="Google Shape;473;p7"/>
          <p:cNvGrpSpPr/>
          <p:nvPr/>
        </p:nvGrpSpPr>
        <p:grpSpPr>
          <a:xfrm>
            <a:off x="4544563" y="3621016"/>
            <a:ext cx="2852928" cy="1847088"/>
            <a:chOff x="4572000" y="3346704"/>
            <a:chExt cx="2852928" cy="1847088"/>
          </a:xfrm>
        </p:grpSpPr>
        <p:sp>
          <p:nvSpPr>
            <p:cNvPr id="474" name="Google Shape;474;p7"/>
            <p:cNvSpPr/>
            <p:nvPr/>
          </p:nvSpPr>
          <p:spPr>
            <a:xfrm>
              <a:off x="4572000" y="3346704"/>
              <a:ext cx="2852928" cy="914400"/>
            </a:xfrm>
            <a:prstGeom prst="roundRect">
              <a:avLst>
                <a:gd fmla="val 6000" name="adj"/>
              </a:avLst>
            </a:prstGeom>
            <a:solidFill>
              <a:srgbClr val="111827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4736592" y="3493008"/>
              <a:ext cx="1280160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10"/>
                <a:buFont typeface="Arial"/>
                <a:buNone/>
              </a:pPr>
              <a:r>
                <a:rPr b="1" i="0" lang="en-US" sz="101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Manage election</a:t>
              </a:r>
              <a:endParaRPr b="0" i="0" sz="10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4736592" y="3758184"/>
              <a:ext cx="107899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Candidates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6035040" y="3758184"/>
              <a:ext cx="107899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Voters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4736592" y="3995928"/>
              <a:ext cx="107899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Schedule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6035040" y="3995928"/>
              <a:ext cx="107899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Audit Logs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4572000" y="4443984"/>
              <a:ext cx="2852928" cy="749808"/>
            </a:xfrm>
            <a:prstGeom prst="roundRect">
              <a:avLst>
                <a:gd fmla="val 7317" name="adj"/>
              </a:avLst>
            </a:prstGeom>
            <a:solidFill>
              <a:srgbClr val="111827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4736592" y="4572000"/>
              <a:ext cx="1097280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010"/>
                <a:buFont typeface="Arial"/>
                <a:buNone/>
              </a:pPr>
              <a:r>
                <a:rPr b="1" i="0" lang="en-US" sz="101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Audit activity</a:t>
              </a:r>
              <a:endParaRPr b="0" i="0" sz="10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4754880" y="4773168"/>
              <a:ext cx="54864" cy="54864"/>
            </a:xfrm>
            <a:prstGeom prst="ellipse">
              <a:avLst/>
            </a:prstGeom>
            <a:solidFill>
              <a:srgbClr val="22C55E"/>
            </a:solidFill>
            <a:ln cap="flat" cmpd="sng" w="12700">
              <a:solidFill>
                <a:srgbClr val="22C55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4864608" y="4736592"/>
              <a:ext cx="2286000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Candidate approved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4754880" y="4901184"/>
              <a:ext cx="54864" cy="54864"/>
            </a:xfrm>
            <a:prstGeom prst="ellipse">
              <a:avLst/>
            </a:prstGeom>
            <a:solidFill>
              <a:srgbClr val="F59E0B"/>
            </a:solidFill>
            <a:ln cap="flat" cmpd="sng" w="12700">
              <a:solidFill>
                <a:srgbClr val="F59E0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4864608" y="4864608"/>
              <a:ext cx="2286000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Turnout threshold reached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4754880" y="5029200"/>
              <a:ext cx="54864" cy="54864"/>
            </a:xfrm>
            <a:prstGeom prst="ellipse">
              <a:avLst/>
            </a:prstGeom>
            <a:solidFill>
              <a:srgbClr val="22C55E"/>
            </a:solidFill>
            <a:ln cap="flat" cmpd="sng" w="12700">
              <a:solidFill>
                <a:srgbClr val="22C55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4864608" y="4992624"/>
              <a:ext cx="2286000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Result export prepared</a:t>
              </a:r>
              <a:endPara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p7"/>
          <p:cNvSpPr/>
          <p:nvPr/>
        </p:nvSpPr>
        <p:spPr>
          <a:xfrm>
            <a:off x="7882125" y="1609375"/>
            <a:ext cx="208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Play"/>
              <a:buNone/>
            </a:pPr>
            <a:r>
              <a:rPr b="1" i="0" lang="en-US" sz="132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Live result dashboard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8211312" y="3621024"/>
            <a:ext cx="292608" cy="658368"/>
          </a:xfrm>
          <a:prstGeom prst="rect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8705088" y="3291840"/>
            <a:ext cx="292608" cy="987552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7"/>
          <p:cNvSpPr/>
          <p:nvPr/>
        </p:nvSpPr>
        <p:spPr>
          <a:xfrm>
            <a:off x="9198864" y="2889504"/>
            <a:ext cx="292608" cy="1389888"/>
          </a:xfrm>
          <a:prstGeom prst="rect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7"/>
          <p:cNvSpPr/>
          <p:nvPr/>
        </p:nvSpPr>
        <p:spPr>
          <a:xfrm>
            <a:off x="9692640" y="2523744"/>
            <a:ext cx="292608" cy="1755648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"/>
          <p:cNvSpPr/>
          <p:nvPr/>
        </p:nvSpPr>
        <p:spPr>
          <a:xfrm flipH="1">
            <a:off x="9913057" y="1914998"/>
            <a:ext cx="876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Verified tally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7"/>
          <p:cNvGrpSpPr/>
          <p:nvPr/>
        </p:nvGrpSpPr>
        <p:grpSpPr>
          <a:xfrm>
            <a:off x="10066569" y="2556420"/>
            <a:ext cx="914400" cy="969264"/>
            <a:chOff x="10003536" y="2304288"/>
            <a:chExt cx="914400" cy="969264"/>
          </a:xfrm>
        </p:grpSpPr>
        <p:sp>
          <p:nvSpPr>
            <p:cNvPr id="495" name="Google Shape;495;p7"/>
            <p:cNvSpPr/>
            <p:nvPr/>
          </p:nvSpPr>
          <p:spPr>
            <a:xfrm>
              <a:off x="10003536" y="2304288"/>
              <a:ext cx="914400" cy="201168"/>
            </a:xfrm>
            <a:prstGeom prst="roundRect">
              <a:avLst>
                <a:gd fmla="val 18182" name="adj"/>
              </a:avLst>
            </a:prstGeom>
            <a:solidFill>
              <a:srgbClr val="111827"/>
            </a:solidFill>
            <a:ln cap="flat" cmpd="sng" w="9525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10058400" y="2359152"/>
              <a:ext cx="80467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40"/>
                <a:buFont typeface="Arial"/>
                <a:buNone/>
              </a:pPr>
              <a:r>
                <a:rPr b="0" i="0" lang="en-US" sz="74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Candidate A</a:t>
              </a:r>
              <a:endParaRPr b="0" i="0" sz="7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10003536" y="2688336"/>
              <a:ext cx="914400" cy="201168"/>
            </a:xfrm>
            <a:prstGeom prst="roundRect">
              <a:avLst>
                <a:gd fmla="val 18182" name="adj"/>
              </a:avLst>
            </a:prstGeom>
            <a:solidFill>
              <a:srgbClr val="111827"/>
            </a:solidFill>
            <a:ln cap="flat" cmpd="sng" w="9525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10058400" y="2743200"/>
              <a:ext cx="80467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40"/>
                <a:buFont typeface="Arial"/>
                <a:buNone/>
              </a:pPr>
              <a:r>
                <a:rPr b="0" i="0" lang="en-US" sz="74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Candidate B</a:t>
              </a:r>
              <a:endParaRPr b="0" i="0" sz="7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10003536" y="3072384"/>
              <a:ext cx="914400" cy="201168"/>
            </a:xfrm>
            <a:prstGeom prst="roundRect">
              <a:avLst>
                <a:gd fmla="val 18182" name="adj"/>
              </a:avLst>
            </a:prstGeom>
            <a:solidFill>
              <a:srgbClr val="111827"/>
            </a:solidFill>
            <a:ln cap="flat" cmpd="sng" w="9525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10058400" y="3127248"/>
              <a:ext cx="804672" cy="5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740"/>
                <a:buFont typeface="Arial"/>
                <a:buNone/>
              </a:pPr>
              <a:r>
                <a:rPr b="0" i="0" lang="en-US" sz="74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Candidate C</a:t>
              </a:r>
              <a:endParaRPr b="0" i="0" sz="7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7"/>
          <p:cNvGrpSpPr/>
          <p:nvPr/>
        </p:nvGrpSpPr>
        <p:grpSpPr>
          <a:xfrm>
            <a:off x="8211312" y="4645152"/>
            <a:ext cx="2706624" cy="475488"/>
            <a:chOff x="8211312" y="4645152"/>
            <a:chExt cx="2706624" cy="475488"/>
          </a:xfrm>
        </p:grpSpPr>
        <p:sp>
          <p:nvSpPr>
            <p:cNvPr id="502" name="Google Shape;502;p7"/>
            <p:cNvSpPr/>
            <p:nvPr/>
          </p:nvSpPr>
          <p:spPr>
            <a:xfrm>
              <a:off x="8211312" y="4645152"/>
              <a:ext cx="2706624" cy="475488"/>
            </a:xfrm>
            <a:prstGeom prst="roundRect">
              <a:avLst>
                <a:gd fmla="val 9615" name="adj"/>
              </a:avLst>
            </a:prstGeom>
            <a:solidFill>
              <a:srgbClr val="15253B"/>
            </a:solidFill>
            <a:ln cap="flat" cmpd="sng" w="10150">
              <a:solidFill>
                <a:srgbClr val="2B36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8211312" y="4791456"/>
              <a:ext cx="2706624" cy="7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880"/>
                <a:buFont typeface="Arial"/>
                <a:buNone/>
              </a:pPr>
              <a:r>
                <a:rPr b="0" i="0" lang="en-US" sz="880" u="none" cap="none" strike="noStrike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Updated 30 sec ago  |  Blockchain status: Verified</a:t>
              </a:r>
              <a:endParaRPr b="0" i="0" sz="8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7"/>
          <p:cNvSpPr/>
          <p:nvPr/>
        </p:nvSpPr>
        <p:spPr>
          <a:xfrm>
            <a:off x="896112" y="6364224"/>
            <a:ext cx="1014984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BB0"/>
              </a:buClr>
              <a:buSzPts val="939"/>
              <a:buFont typeface="Arial"/>
              <a:buNone/>
            </a:pPr>
            <a:r>
              <a:rPr b="0" i="0" lang="en-US" sz="940" u="none" cap="none" strike="noStrike">
                <a:solidFill>
                  <a:srgbClr val="8C9BB0"/>
                </a:solidFill>
                <a:latin typeface="Arial"/>
                <a:ea typeface="Arial"/>
                <a:cs typeface="Arial"/>
                <a:sym typeface="Arial"/>
              </a:rPr>
              <a:t>Example screens for presentation only - the final lab output would be refined in Figma as an interactive prototype.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"/>
          <p:cNvSpPr/>
          <p:nvPr/>
        </p:nvSpPr>
        <p:spPr>
          <a:xfrm>
            <a:off x="11155680" y="457200"/>
            <a:ext cx="109800" cy="20118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8"/>
          <p:cNvSpPr/>
          <p:nvPr/>
        </p:nvSpPr>
        <p:spPr>
          <a:xfrm>
            <a:off x="11411712" y="548640"/>
            <a:ext cx="109728" cy="109728"/>
          </a:xfrm>
          <a:prstGeom prst="ellipse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8"/>
          <p:cNvSpPr/>
          <p:nvPr/>
        </p:nvSpPr>
        <p:spPr>
          <a:xfrm>
            <a:off x="11594592" y="822960"/>
            <a:ext cx="109728" cy="109728"/>
          </a:xfrm>
          <a:prstGeom prst="ellipse">
            <a:avLst/>
          </a:prstGeom>
          <a:solidFill>
            <a:srgbClr val="F15BB5"/>
          </a:solidFill>
          <a:ln cap="flat" cmpd="sng" w="12700">
            <a:solidFill>
              <a:srgbClr val="F15B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8"/>
          <p:cNvSpPr/>
          <p:nvPr/>
        </p:nvSpPr>
        <p:spPr>
          <a:xfrm>
            <a:off x="11411712" y="109728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8"/>
          <p:cNvSpPr/>
          <p:nvPr/>
        </p:nvSpPr>
        <p:spPr>
          <a:xfrm>
            <a:off x="566928" y="475488"/>
            <a:ext cx="73152" cy="384048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8"/>
          <p:cNvSpPr/>
          <p:nvPr/>
        </p:nvSpPr>
        <p:spPr>
          <a:xfrm>
            <a:off x="768096" y="42976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C6FF"/>
                </a:solidFill>
                <a:latin typeface="Arial"/>
                <a:ea typeface="Arial"/>
                <a:cs typeface="Arial"/>
                <a:sym typeface="Arial"/>
              </a:rPr>
              <a:t>TOOLS AND STACK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10104120" y="347472"/>
            <a:ext cx="941832" cy="384048"/>
          </a:xfrm>
          <a:prstGeom prst="roundRect">
            <a:avLst>
              <a:gd fmla="val 14286" name="adj"/>
            </a:avLst>
          </a:prstGeom>
          <a:solidFill>
            <a:srgbClr val="182136">
              <a:alpha val="94117"/>
            </a:srgbClr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"/>
          <p:cNvSpPr/>
          <p:nvPr/>
        </p:nvSpPr>
        <p:spPr>
          <a:xfrm>
            <a:off x="10104120" y="429768"/>
            <a:ext cx="9418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768096" y="804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50"/>
              <a:buFont typeface="Play"/>
              <a:buNone/>
            </a:pPr>
            <a:r>
              <a:rPr b="1" i="0" lang="en-US" sz="235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5. Tools, Languages, APIs, Frameworks, and Programs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768096" y="1316736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Because the lab focuses on UI/UX, design tools come first; the implementation stack below shows how the idea could be extended later.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11631168" y="64190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0A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090A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832159" y="1792224"/>
            <a:ext cx="3657600" cy="4261200"/>
          </a:xfrm>
          <a:prstGeom prst="roundRect">
            <a:avLst>
              <a:gd fmla="val 2000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8"/>
          <p:cNvSpPr/>
          <p:nvPr/>
        </p:nvSpPr>
        <p:spPr>
          <a:xfrm>
            <a:off x="950976" y="1956816"/>
            <a:ext cx="91440" cy="393192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8"/>
          <p:cNvSpPr/>
          <p:nvPr/>
        </p:nvSpPr>
        <p:spPr>
          <a:xfrm>
            <a:off x="1170432" y="1956816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Main tools for the UI/UX prototype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1097150" y="2121400"/>
            <a:ext cx="3108900" cy="567000"/>
          </a:xfrm>
          <a:prstGeom prst="roundRect">
            <a:avLst>
              <a:gd fmla="val 8065" name="adj"/>
            </a:avLst>
          </a:prstGeom>
          <a:solidFill>
            <a:srgbClr val="111827"/>
          </a:solidFill>
          <a:ln cap="flat" cmpd="sng" w="95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"/>
          <p:cNvSpPr/>
          <p:nvPr/>
        </p:nvSpPr>
        <p:spPr>
          <a:xfrm>
            <a:off x="1170432" y="2249424"/>
            <a:ext cx="82296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Play"/>
              <a:buNone/>
            </a:pPr>
            <a:r>
              <a:rPr b="1" i="0" lang="en-US" sz="112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Figma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2048256" y="216712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Wireframes, design system, high-fidelity screens, interactive prototype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8"/>
          <p:cNvSpPr/>
          <p:nvPr/>
        </p:nvSpPr>
        <p:spPr>
          <a:xfrm>
            <a:off x="1097350" y="2926075"/>
            <a:ext cx="3108900" cy="567000"/>
          </a:xfrm>
          <a:prstGeom prst="roundRect">
            <a:avLst>
              <a:gd fmla="val 8065" name="adj"/>
            </a:avLst>
          </a:prstGeom>
          <a:solidFill>
            <a:srgbClr val="0F172A"/>
          </a:solidFill>
          <a:ln cap="flat" cmpd="sng" w="95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"/>
          <p:cNvSpPr/>
          <p:nvPr/>
        </p:nvSpPr>
        <p:spPr>
          <a:xfrm>
            <a:off x="1170432" y="3054096"/>
            <a:ext cx="82296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Play"/>
              <a:buNone/>
            </a:pPr>
            <a:r>
              <a:rPr b="1" i="0" lang="en-US" sz="112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FigJam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"/>
          <p:cNvSpPr/>
          <p:nvPr/>
        </p:nvSpPr>
        <p:spPr>
          <a:xfrm>
            <a:off x="2048256" y="2971800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User flow, sitemap, persona board, brainstorming and journey map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8"/>
          <p:cNvSpPr/>
          <p:nvPr/>
        </p:nvSpPr>
        <p:spPr>
          <a:xfrm>
            <a:off x="1097350" y="3730750"/>
            <a:ext cx="3108900" cy="567000"/>
          </a:xfrm>
          <a:prstGeom prst="roundRect">
            <a:avLst>
              <a:gd fmla="val 8065" name="adj"/>
            </a:avLst>
          </a:prstGeom>
          <a:solidFill>
            <a:srgbClr val="111827"/>
          </a:solidFill>
          <a:ln cap="flat" cmpd="sng" w="95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"/>
          <p:cNvSpPr/>
          <p:nvPr/>
        </p:nvSpPr>
        <p:spPr>
          <a:xfrm>
            <a:off x="1170432" y="3858768"/>
            <a:ext cx="82296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Play"/>
              <a:buNone/>
            </a:pPr>
            <a:r>
              <a:rPr b="1" i="0" lang="en-US" sz="112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PowerPoint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"/>
          <p:cNvSpPr/>
          <p:nvPr/>
        </p:nvSpPr>
        <p:spPr>
          <a:xfrm>
            <a:off x="2048256" y="377647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Proposal slides, pitch flow, visual storytelling for the lab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8"/>
          <p:cNvSpPr/>
          <p:nvPr/>
        </p:nvSpPr>
        <p:spPr>
          <a:xfrm>
            <a:off x="1097188" y="4535426"/>
            <a:ext cx="3108900" cy="928800"/>
          </a:xfrm>
          <a:prstGeom prst="roundRect">
            <a:avLst>
              <a:gd fmla="val 8065" name="adj"/>
            </a:avLst>
          </a:prstGeom>
          <a:solidFill>
            <a:srgbClr val="0F172A"/>
          </a:solidFill>
          <a:ln cap="flat" cmpd="sng" w="9825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200" lIns="94200" spcFirstLastPara="1" rIns="94200" wrap="square" tIns="9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2"/>
          </a:p>
        </p:txBody>
      </p:sp>
      <p:sp>
        <p:nvSpPr>
          <p:cNvPr id="534" name="Google Shape;534;p8"/>
          <p:cNvSpPr/>
          <p:nvPr/>
        </p:nvSpPr>
        <p:spPr>
          <a:xfrm>
            <a:off x="1158021" y="4901257"/>
            <a:ext cx="847800" cy="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4"/>
              <a:buFont typeface="Play"/>
              <a:buNone/>
            </a:pPr>
            <a:r>
              <a:rPr b="1" i="0" lang="en-US" sz="1154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Google Fonts / Material Symbols</a:t>
            </a:r>
            <a:endParaRPr b="0" i="0" sz="115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"/>
          <p:cNvSpPr/>
          <p:nvPr/>
        </p:nvSpPr>
        <p:spPr>
          <a:xfrm>
            <a:off x="2071004" y="4837242"/>
            <a:ext cx="1997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C0"/>
              </a:buClr>
              <a:buSzPts val="927"/>
              <a:buFont typeface="Arial"/>
              <a:buNone/>
            </a:pPr>
            <a:r>
              <a:rPr b="0" i="0" lang="en-US" sz="927" u="none" cap="none" strike="noStrike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Typography and lightweight icon support for clean interfaces</a:t>
            </a:r>
            <a:endParaRPr b="0" i="0" sz="92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4663440" y="1792224"/>
            <a:ext cx="6419100" cy="4261200"/>
          </a:xfrm>
          <a:prstGeom prst="roundRect">
            <a:avLst>
              <a:gd fmla="val 1717" name="adj"/>
            </a:avLst>
          </a:prstGeom>
          <a:solidFill>
            <a:srgbClr val="121A2B"/>
          </a:solidFill>
          <a:ln cap="flat" cmpd="sng" w="139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524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"/>
          <p:cNvSpPr/>
          <p:nvPr/>
        </p:nvSpPr>
        <p:spPr>
          <a:xfrm>
            <a:off x="4846323" y="1868450"/>
            <a:ext cx="73200" cy="4020300"/>
          </a:xfrm>
          <a:prstGeom prst="rect">
            <a:avLst/>
          </a:prstGeom>
          <a:solidFill>
            <a:srgbClr val="33C6FF"/>
          </a:solidFill>
          <a:ln cap="flat" cmpd="sng" w="12700">
            <a:solidFill>
              <a:srgbClr val="33C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8"/>
          <p:cNvSpPr/>
          <p:nvPr/>
        </p:nvSpPr>
        <p:spPr>
          <a:xfrm>
            <a:off x="5034275" y="1746539"/>
            <a:ext cx="5870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Proposed future implementation stack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9" name="Google Shape;539;p8"/>
          <p:cNvGrpSpPr/>
          <p:nvPr/>
        </p:nvGrpSpPr>
        <p:grpSpPr>
          <a:xfrm>
            <a:off x="4954982" y="2158038"/>
            <a:ext cx="5646325" cy="1188537"/>
            <a:chOff x="4942375" y="2158038"/>
            <a:chExt cx="5646325" cy="1188537"/>
          </a:xfrm>
        </p:grpSpPr>
        <p:sp>
          <p:nvSpPr>
            <p:cNvPr id="540" name="Google Shape;540;p8"/>
            <p:cNvSpPr/>
            <p:nvPr/>
          </p:nvSpPr>
          <p:spPr>
            <a:xfrm>
              <a:off x="4942375" y="2158038"/>
              <a:ext cx="2670000" cy="1170300"/>
            </a:xfrm>
            <a:prstGeom prst="roundRect">
              <a:avLst>
                <a:gd fmla="val 4478" name="adj"/>
              </a:avLst>
            </a:prstGeom>
            <a:solidFill>
              <a:srgbClr val="101827"/>
            </a:solidFill>
            <a:ln cap="flat" cmpd="sng" w="12700">
              <a:solidFill>
                <a:srgbClr val="33C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5120640" y="2267712"/>
              <a:ext cx="10974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Play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Front-end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8"/>
            <p:cNvSpPr/>
            <p:nvPr/>
          </p:nvSpPr>
          <p:spPr>
            <a:xfrm>
              <a:off x="5120640" y="2651760"/>
              <a:ext cx="73200" cy="73200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8"/>
            <p:cNvSpPr/>
            <p:nvPr/>
          </p:nvSpPr>
          <p:spPr>
            <a:xfrm>
              <a:off x="5276088" y="2523744"/>
              <a:ext cx="21306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React.js or Next.js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"/>
            <p:cNvSpPr/>
            <p:nvPr/>
          </p:nvSpPr>
          <p:spPr>
            <a:xfrm>
              <a:off x="5120640" y="2889504"/>
              <a:ext cx="73200" cy="73200"/>
            </a:xfrm>
            <a:prstGeom prst="ellipse">
              <a:avLst/>
            </a:prstGeom>
            <a:solidFill>
              <a:srgbClr val="33C6FF"/>
            </a:solidFill>
            <a:ln cap="flat" cmpd="sng" w="12700">
              <a:solidFill>
                <a:srgbClr val="33C6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8"/>
            <p:cNvSpPr/>
            <p:nvPr/>
          </p:nvSpPr>
          <p:spPr>
            <a:xfrm>
              <a:off x="5276088" y="2761488"/>
              <a:ext cx="21306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Tailwind CSS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" name="Google Shape;546;p8"/>
            <p:cNvGrpSpPr/>
            <p:nvPr/>
          </p:nvGrpSpPr>
          <p:grpSpPr>
            <a:xfrm>
              <a:off x="5121733" y="2988925"/>
              <a:ext cx="2273441" cy="237600"/>
              <a:chOff x="11539715" y="4279395"/>
              <a:chExt cx="2273441" cy="237600"/>
            </a:xfrm>
          </p:grpSpPr>
          <p:sp>
            <p:nvSpPr>
              <p:cNvPr id="547" name="Google Shape;547;p8"/>
              <p:cNvSpPr/>
              <p:nvPr/>
            </p:nvSpPr>
            <p:spPr>
              <a:xfrm>
                <a:off x="11682556" y="4279395"/>
                <a:ext cx="2130600" cy="23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10"/>
                  <a:buFont typeface="Arial"/>
                  <a:buNone/>
                </a:pPr>
                <a:r>
                  <a:rPr b="0" i="0" lang="en-US" sz="91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Chart.js for results dashboard</a:t>
                </a:r>
                <a:endParaRPr b="0" i="0" sz="91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8"/>
              <p:cNvSpPr/>
              <p:nvPr/>
            </p:nvSpPr>
            <p:spPr>
              <a:xfrm>
                <a:off x="11539715" y="4407411"/>
                <a:ext cx="73200" cy="73200"/>
              </a:xfrm>
              <a:prstGeom prst="ellipse">
                <a:avLst/>
              </a:prstGeom>
              <a:solidFill>
                <a:srgbClr val="33C6FF"/>
              </a:solidFill>
              <a:ln cap="flat" cmpd="sng" w="12700">
                <a:solidFill>
                  <a:srgbClr val="33C6FF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9" name="Google Shape;549;p8"/>
            <p:cNvSpPr/>
            <p:nvPr/>
          </p:nvSpPr>
          <p:spPr>
            <a:xfrm>
              <a:off x="7918700" y="2176275"/>
              <a:ext cx="2670000" cy="1170300"/>
            </a:xfrm>
            <a:prstGeom prst="roundRect">
              <a:avLst>
                <a:gd fmla="val 4478" name="adj"/>
              </a:avLst>
            </a:prstGeom>
            <a:solidFill>
              <a:srgbClr val="101827"/>
            </a:solidFill>
            <a:ln cap="flat" cmpd="sng" w="127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8"/>
            <p:cNvSpPr/>
            <p:nvPr/>
          </p:nvSpPr>
          <p:spPr>
            <a:xfrm>
              <a:off x="8065008" y="2267712"/>
              <a:ext cx="10974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Play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Back-end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8"/>
            <p:cNvSpPr/>
            <p:nvPr/>
          </p:nvSpPr>
          <p:spPr>
            <a:xfrm>
              <a:off x="8065008" y="2651760"/>
              <a:ext cx="73200" cy="73200"/>
            </a:xfrm>
            <a:prstGeom prst="ellipse">
              <a:avLst/>
            </a:prstGeom>
            <a:solidFill>
              <a:srgbClr val="22C55E"/>
            </a:solidFill>
            <a:ln cap="flat" cmpd="sng" w="12700">
              <a:solidFill>
                <a:srgbClr val="22C55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8"/>
            <p:cNvSpPr/>
            <p:nvPr/>
          </p:nvSpPr>
          <p:spPr>
            <a:xfrm>
              <a:off x="8220456" y="2523744"/>
              <a:ext cx="21306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Node.js and Express.js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8"/>
            <p:cNvSpPr/>
            <p:nvPr/>
          </p:nvSpPr>
          <p:spPr>
            <a:xfrm>
              <a:off x="8065008" y="2889504"/>
              <a:ext cx="73200" cy="73200"/>
            </a:xfrm>
            <a:prstGeom prst="ellipse">
              <a:avLst/>
            </a:prstGeom>
            <a:solidFill>
              <a:srgbClr val="22C55E"/>
            </a:solidFill>
            <a:ln cap="flat" cmpd="sng" w="12700">
              <a:solidFill>
                <a:srgbClr val="22C55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8"/>
            <p:cNvSpPr/>
            <p:nvPr/>
          </p:nvSpPr>
          <p:spPr>
            <a:xfrm>
              <a:off x="8220456" y="2761488"/>
              <a:ext cx="21306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REST API design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"/>
            <p:cNvSpPr/>
            <p:nvPr/>
          </p:nvSpPr>
          <p:spPr>
            <a:xfrm>
              <a:off x="8065008" y="3127248"/>
              <a:ext cx="73200" cy="73200"/>
            </a:xfrm>
            <a:prstGeom prst="ellipse">
              <a:avLst/>
            </a:prstGeom>
            <a:solidFill>
              <a:srgbClr val="22C55E"/>
            </a:solidFill>
            <a:ln cap="flat" cmpd="sng" w="12700">
              <a:solidFill>
                <a:srgbClr val="22C55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8"/>
            <p:cNvSpPr/>
            <p:nvPr/>
          </p:nvSpPr>
          <p:spPr>
            <a:xfrm>
              <a:off x="8220456" y="2999232"/>
              <a:ext cx="21306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JWT or OTP-based session logic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8"/>
          <p:cNvGrpSpPr/>
          <p:nvPr/>
        </p:nvGrpSpPr>
        <p:grpSpPr>
          <a:xfrm>
            <a:off x="4974336" y="3739941"/>
            <a:ext cx="5614368" cy="1270971"/>
            <a:chOff x="4974336" y="3739941"/>
            <a:chExt cx="5614368" cy="1270971"/>
          </a:xfrm>
        </p:grpSpPr>
        <p:sp>
          <p:nvSpPr>
            <p:cNvPr id="558" name="Google Shape;558;p8"/>
            <p:cNvSpPr/>
            <p:nvPr/>
          </p:nvSpPr>
          <p:spPr>
            <a:xfrm>
              <a:off x="4974336" y="3785616"/>
              <a:ext cx="2670048" cy="1225296"/>
            </a:xfrm>
            <a:prstGeom prst="roundRect">
              <a:avLst>
                <a:gd fmla="val 4478" name="adj"/>
              </a:avLst>
            </a:prstGeom>
            <a:solidFill>
              <a:srgbClr val="101827"/>
            </a:solidFill>
            <a:ln cap="flat" cmpd="sng" w="12700">
              <a:solidFill>
                <a:srgbClr val="7C5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8"/>
            <p:cNvSpPr/>
            <p:nvPr/>
          </p:nvSpPr>
          <p:spPr>
            <a:xfrm>
              <a:off x="5120640" y="3931920"/>
              <a:ext cx="1097280" cy="9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Play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Blockchain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"/>
            <p:cNvSpPr/>
            <p:nvPr/>
          </p:nvSpPr>
          <p:spPr>
            <a:xfrm>
              <a:off x="5120640" y="4315968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8"/>
            <p:cNvSpPr/>
            <p:nvPr/>
          </p:nvSpPr>
          <p:spPr>
            <a:xfrm>
              <a:off x="5276088" y="4187952"/>
              <a:ext cx="2130552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Solidity smart contract idea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8"/>
            <p:cNvSpPr/>
            <p:nvPr/>
          </p:nvSpPr>
          <p:spPr>
            <a:xfrm>
              <a:off x="5120640" y="4553712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8"/>
            <p:cNvSpPr/>
            <p:nvPr/>
          </p:nvSpPr>
          <p:spPr>
            <a:xfrm>
              <a:off x="5276088" y="4425696"/>
              <a:ext cx="2130552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Hardhat or Ganache test network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8"/>
            <p:cNvSpPr/>
            <p:nvPr/>
          </p:nvSpPr>
          <p:spPr>
            <a:xfrm>
              <a:off x="5120640" y="4791456"/>
              <a:ext cx="73152" cy="73152"/>
            </a:xfrm>
            <a:prstGeom prst="ellipse">
              <a:avLst/>
            </a:prstGeom>
            <a:solidFill>
              <a:srgbClr val="7C5CFF"/>
            </a:solidFill>
            <a:ln cap="flat" cmpd="sng" w="12700">
              <a:solidFill>
                <a:srgbClr val="7C5C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8"/>
            <p:cNvSpPr/>
            <p:nvPr/>
          </p:nvSpPr>
          <p:spPr>
            <a:xfrm>
              <a:off x="5276088" y="4663440"/>
              <a:ext cx="2130552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B0C0"/>
                </a:buClr>
                <a:buSzPts val="910"/>
                <a:buFont typeface="Arial"/>
                <a:buNone/>
              </a:pPr>
              <a:r>
                <a:rPr b="0" i="0" lang="en-US" sz="910" u="none" cap="none" strike="noStrike">
                  <a:solidFill>
                    <a:srgbClr val="A7B0C0"/>
                  </a:solidFill>
                  <a:latin typeface="Arial"/>
                  <a:ea typeface="Arial"/>
                  <a:cs typeface="Arial"/>
                  <a:sym typeface="Arial"/>
                </a:rPr>
                <a:t>Ethers.js or Web3.js</a:t>
              </a:r>
              <a:endParaRPr b="0" i="0" sz="9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8"/>
            <p:cNvSpPr/>
            <p:nvPr/>
          </p:nvSpPr>
          <p:spPr>
            <a:xfrm>
              <a:off x="7918704" y="3739941"/>
              <a:ext cx="2670000" cy="1225200"/>
            </a:xfrm>
            <a:prstGeom prst="roundRect">
              <a:avLst>
                <a:gd fmla="val 4478" name="adj"/>
              </a:avLst>
            </a:prstGeom>
            <a:solidFill>
              <a:srgbClr val="101827"/>
            </a:solidFill>
            <a:ln cap="flat" cmpd="sng" w="12700">
              <a:solidFill>
                <a:srgbClr val="F15B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7" name="Google Shape;567;p8"/>
            <p:cNvGrpSpPr/>
            <p:nvPr/>
          </p:nvGrpSpPr>
          <p:grpSpPr>
            <a:xfrm>
              <a:off x="8052033" y="3867920"/>
              <a:ext cx="2286000" cy="969264"/>
              <a:chOff x="8065008" y="3931920"/>
              <a:chExt cx="2286000" cy="969264"/>
            </a:xfrm>
          </p:grpSpPr>
          <p:sp>
            <p:nvSpPr>
              <p:cNvPr id="568" name="Google Shape;568;p8"/>
              <p:cNvSpPr/>
              <p:nvPr/>
            </p:nvSpPr>
            <p:spPr>
              <a:xfrm>
                <a:off x="8065008" y="3931920"/>
                <a:ext cx="1097280" cy="91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1200"/>
                  <a:buFont typeface="Play"/>
                  <a:buNone/>
                </a:pPr>
                <a:r>
                  <a:rPr b="1" i="0" lang="en-US" sz="1200" u="none" cap="none" strike="noStrike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Data and testing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8065008" y="4315968"/>
                <a:ext cx="73152" cy="73152"/>
              </a:xfrm>
              <a:prstGeom prst="ellipse">
                <a:avLst/>
              </a:prstGeom>
              <a:solidFill>
                <a:srgbClr val="F15BB5"/>
              </a:solidFill>
              <a:ln cap="flat" cmpd="sng" w="12700">
                <a:solidFill>
                  <a:srgbClr val="F15BB5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8"/>
              <p:cNvSpPr/>
              <p:nvPr/>
            </p:nvSpPr>
            <p:spPr>
              <a:xfrm>
                <a:off x="8220456" y="4187952"/>
                <a:ext cx="2130552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10"/>
                  <a:buFont typeface="Arial"/>
                  <a:buNone/>
                </a:pPr>
                <a:r>
                  <a:rPr b="0" i="0" lang="en-US" sz="91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MongoDB or Firebase mock data</a:t>
                </a:r>
                <a:endParaRPr b="0" i="0" sz="91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8"/>
              <p:cNvSpPr/>
              <p:nvPr/>
            </p:nvSpPr>
            <p:spPr>
              <a:xfrm>
                <a:off x="8065008" y="4553712"/>
                <a:ext cx="73152" cy="73152"/>
              </a:xfrm>
              <a:prstGeom prst="ellipse">
                <a:avLst/>
              </a:prstGeom>
              <a:solidFill>
                <a:srgbClr val="F15BB5"/>
              </a:solidFill>
              <a:ln cap="flat" cmpd="sng" w="12700">
                <a:solidFill>
                  <a:srgbClr val="F15BB5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8"/>
              <p:cNvSpPr/>
              <p:nvPr/>
            </p:nvSpPr>
            <p:spPr>
              <a:xfrm>
                <a:off x="8220456" y="4425696"/>
                <a:ext cx="2130552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10"/>
                  <a:buFont typeface="Arial"/>
                  <a:buNone/>
                </a:pPr>
                <a:r>
                  <a:rPr b="0" i="0" lang="en-US" sz="91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Postman for API testing</a:t>
                </a:r>
                <a:endParaRPr b="0" i="0" sz="91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8"/>
              <p:cNvSpPr/>
              <p:nvPr/>
            </p:nvSpPr>
            <p:spPr>
              <a:xfrm>
                <a:off x="8065008" y="4791456"/>
                <a:ext cx="73152" cy="73152"/>
              </a:xfrm>
              <a:prstGeom prst="ellipse">
                <a:avLst/>
              </a:prstGeom>
              <a:solidFill>
                <a:srgbClr val="F15BB5"/>
              </a:solidFill>
              <a:ln cap="flat" cmpd="sng" w="12700">
                <a:solidFill>
                  <a:srgbClr val="F15BB5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8"/>
              <p:cNvSpPr/>
              <p:nvPr/>
            </p:nvSpPr>
            <p:spPr>
              <a:xfrm>
                <a:off x="8220456" y="4663440"/>
                <a:ext cx="2130552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A7B0C0"/>
                  </a:buClr>
                  <a:buSzPts val="910"/>
                  <a:buFont typeface="Arial"/>
                  <a:buNone/>
                </a:pPr>
                <a:r>
                  <a:rPr b="0" i="0" lang="en-US" sz="910" u="none" cap="none" strike="noStrike">
                    <a:solidFill>
                      <a:srgbClr val="A7B0C0"/>
                    </a:solidFill>
                    <a:latin typeface="Arial"/>
                    <a:ea typeface="Arial"/>
                    <a:cs typeface="Arial"/>
                    <a:sym typeface="Arial"/>
                  </a:rPr>
                  <a:t>Git and GitHub for version control</a:t>
                </a:r>
                <a:endParaRPr b="0" i="0" sz="91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5" name="Google Shape;575;p8"/>
          <p:cNvSpPr/>
          <p:nvPr/>
        </p:nvSpPr>
        <p:spPr>
          <a:xfrm>
            <a:off x="4974325" y="5522975"/>
            <a:ext cx="5468100" cy="384000"/>
          </a:xfrm>
          <a:prstGeom prst="roundRect">
            <a:avLst>
              <a:gd fmla="val 16667" name="adj"/>
            </a:avLst>
          </a:prstGeom>
          <a:solidFill>
            <a:srgbClr val="15253B"/>
          </a:solidFill>
          <a:ln cap="flat" cmpd="sng" w="10150">
            <a:solidFill>
              <a:srgbClr val="2B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"/>
          <p:cNvSpPr/>
          <p:nvPr/>
        </p:nvSpPr>
        <p:spPr>
          <a:xfrm>
            <a:off x="5157216" y="5669280"/>
            <a:ext cx="510235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Main message: Figma is the primary tool for the lab. The technical stack is included to show future feasibility and system direction.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g3d43c4293ec_2_0" title="Free-Thank-You-PPT-templat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37126" cy="6827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2026-04-02T18:55:15Z</dcterms:created>
  <dc:creator>OpenAI</dc:creator>
</cp:coreProperties>
</file>